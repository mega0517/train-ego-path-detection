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문제</a:t>
            </a:r>
          </a:p>
        </p:txBody>
      </p:sp>
      <p:pic>
        <p:nvPicPr>
          <p:cNvPr id="6" name="Picture 5" descr="label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149" y="1116000"/>
            <a:ext cx="3791701" cy="345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4661999"/>
            <a:ext cx="9828000" cy="3634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1. 라벨링 화면. 프레임마다 좌우 두 곡선을 사람이 그린다.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5025464"/>
            <a:ext cx="982800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비용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비디오 단위 구축 비용이 크다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반복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새 노선마다 처음부터 다시 라벨링한다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기존 방식의 한계</a:t>
            </a:r>
          </a:p>
        </p:txBody>
      </p:sp>
      <p:pic>
        <p:nvPicPr>
          <p:cNvPr id="6" name="Picture 5" descr="fai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00" y="1116000"/>
            <a:ext cx="9312000" cy="345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4661999"/>
            <a:ext cx="9828000" cy="6549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2. 일반 철도로 학습된 검출기를 노면 전차에 적용한 결과. 자기 궤도를 벗어나 인접 궤도와 주변 차량으로 이탈한다.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5316929"/>
            <a:ext cx="98280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한계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모델이 실패하는 신규 도메인에서는 초안이 성립하지 않는다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전체 프로세스</a:t>
            </a:r>
          </a:p>
        </p:txBody>
      </p:sp>
      <p:pic>
        <p:nvPicPr>
          <p:cNvPr id="6" name="Picture 5" descr="fig_arch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72" y="1116000"/>
            <a:ext cx="6868056" cy="345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4661999"/>
            <a:ext cx="9828000" cy="946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3. 첫 프레임 프롬프트가 전 프레임으로 전파되어 궤도 마스크가 되고, 레일 변환과 검수를 거쳐 학습 데이터가 된다. 미세조정 모델로 초안을 재생성하는 부트스트래핑 루프로 이어진다.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5608394"/>
            <a:ext cx="98280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착안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SAM 2는 레일을 학습한 적이 없어도 지정한 영역을 추적한다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단계 1 · 프롬프트</a:t>
            </a:r>
          </a:p>
        </p:txBody>
      </p:sp>
      <p:pic>
        <p:nvPicPr>
          <p:cNvPr id="6" name="Picture 5" descr="pipe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071" y="1116000"/>
            <a:ext cx="7981857" cy="345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4661999"/>
            <a:ext cx="9828000" cy="3634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4. 첫 프레임에서 자기 궤도 위 한 점을 찍는다.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5025464"/>
            <a:ext cx="982800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자동 시드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미지정 시 화면 하단 중앙을 쓴다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근거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자기 궤도는 차량 정면 하단에서 시작한다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단계 2 · 비디오 전파</a:t>
            </a:r>
          </a:p>
        </p:txBody>
      </p:sp>
      <p:pic>
        <p:nvPicPr>
          <p:cNvPr id="6" name="Picture 5" descr="fig4_sam2_t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9828000" cy="18175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3023505"/>
            <a:ext cx="9828000" cy="6549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5. 처음과 중간, 끝 프레임. 한 번의 지정으로 290 프레임 전체에 마스크가 전파된다.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678435"/>
            <a:ext cx="98280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이점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모델 내부 메모리로 추적해 모션 추정이 필요 없다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단계 3 · 레일 변환</a:t>
            </a:r>
          </a:p>
        </p:txBody>
      </p:sp>
      <p:pic>
        <p:nvPicPr>
          <p:cNvPr id="6" name="Picture 5" descr="pipe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9828000" cy="27226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3928620"/>
            <a:ext cx="9828000" cy="3634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6. 궤도 마스크에서 행별 좌우 경계를 뽑아 레일 점열로 바꾼다.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4292085"/>
            <a:ext cx="9828000" cy="234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격자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48행을 따라 행별 최좌우 경계 화소를 취한다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효과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레일당 평균 48점이 6점 내외로 줄어든다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단계 4 · 검수 보정</a:t>
            </a:r>
          </a:p>
        </p:txBody>
      </p:sp>
      <p:pic>
        <p:nvPicPr>
          <p:cNvPr id="6" name="Picture 5" descr="screen_labe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200" y="1116000"/>
            <a:ext cx="5529600" cy="345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4661999"/>
            <a:ext cx="9828000" cy="3634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7. 초안이 편집 화면에 즉시 로드되어 점 단위로 다듬을 수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5025464"/>
            <a:ext cx="9828000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보정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점 단위 이동과 추가, 삭제로 다듬는다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단계 5 · 학습 재라벨</a:t>
            </a:r>
          </a:p>
        </p:txBody>
      </p:sp>
      <p:pic>
        <p:nvPicPr>
          <p:cNvPr id="6" name="Picture 5" descr="pipe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9828000" cy="22748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3480827"/>
            <a:ext cx="9828000" cy="6549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8. 확정 라벨이 학습 입력이 되고, 미세조정 모델이 나머지 초안을 다시 만든다.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4135757"/>
            <a:ext cx="9828000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순환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소량 보정본으로 전체를 다시 라벨링한다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실험 설정</a:t>
            </a:r>
          </a:p>
        </p:txBody>
      </p:sp>
      <p:pic>
        <p:nvPicPr>
          <p:cNvPr id="6" name="Picture 5" descr="sam2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842" y="1116000"/>
            <a:ext cx="6176316" cy="345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4661999"/>
            <a:ext cx="9828000" cy="6549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9. 대상 장면. 레일이 도로에 매립되어 침목과 자갈 같은 문맥 단서가 없다.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5316929"/>
            <a:ext cx="9828000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대상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도심 노면 전차 290 프레임, 1920 × 1080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비교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RailSem19 학습 모델과 제안 기법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부트스트래핑 결과</a:t>
            </a:r>
          </a:p>
        </p:txBody>
      </p:sp>
      <p:pic>
        <p:nvPicPr>
          <p:cNvPr id="6" name="Picture 5" descr="fig3_bootstrap_relab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393" y="1116000"/>
            <a:ext cx="4079213" cy="345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4661999"/>
            <a:ext cx="9828000" cy="6549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10. 좌측은 미세조정 이전 초안, 우측은 30 프레임 보정본으로 미세조정한 모델의 재라벨.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5316929"/>
            <a:ext cx="98280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결과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지그재그와 이탈이 사라지고 궤도를 매끄럽게 따른다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정량 결과</a:t>
            </a:r>
          </a:p>
        </p:txBody>
      </p:sp>
      <p:pic>
        <p:nvPicPr>
          <p:cNvPr id="6" name="Picture 5" descr="boot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0" y="1116000"/>
            <a:ext cx="1995540" cy="345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48000" y="4661999"/>
            <a:ext cx="1995540" cy="946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11. 미세조정 모델의 재라벨.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116000"/>
            <a:ext cx="1737360" cy="576000"/>
          </a:xfrm>
          <a:prstGeom prst="rect">
            <a:avLst/>
          </a:prstGeom>
          <a:solidFill>
            <a:srgbClr val="066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" y="1205999"/>
            <a:ext cx="1449360" cy="396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9360" y="1116000"/>
            <a:ext cx="1737360" cy="576000"/>
          </a:xfrm>
          <a:prstGeom prst="rect">
            <a:avLst/>
          </a:prstGeom>
          <a:solidFill>
            <a:srgbClr val="066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360" y="1205999"/>
            <a:ext cx="1449360" cy="396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대상 도메인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6720" y="1116000"/>
            <a:ext cx="1737360" cy="576000"/>
          </a:xfrm>
          <a:prstGeom prst="rect">
            <a:avLst/>
          </a:prstGeom>
          <a:solidFill>
            <a:srgbClr val="066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0720" y="1205999"/>
            <a:ext cx="1449360" cy="396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원 도메인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692000"/>
            <a:ext cx="173736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000" y="1692000"/>
            <a:ext cx="1737360" cy="14400"/>
          </a:xfrm>
          <a:prstGeom prst="rect">
            <a:avLst/>
          </a:prstGeom>
          <a:solidFill>
            <a:srgbClr val="8AD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1781999"/>
            <a:ext cx="1449360" cy="396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1A1A1A"/>
                </a:solidFill>
                <a:latin typeface="맑은 고딕"/>
              </a:rPr>
              <a:t>미세조정 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9360" y="1692000"/>
            <a:ext cx="173736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69360" y="1692000"/>
            <a:ext cx="1737360" cy="14400"/>
          </a:xfrm>
          <a:prstGeom prst="rect">
            <a:avLst/>
          </a:prstGeom>
          <a:solidFill>
            <a:srgbClr val="8AD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13360" y="1781999"/>
            <a:ext cx="1449360" cy="396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1A1A1A"/>
                </a:solidFill>
                <a:latin typeface="맑은 고딕"/>
              </a:rPr>
              <a:t>0.389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06720" y="1692000"/>
            <a:ext cx="173736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06720" y="1692000"/>
            <a:ext cx="1737360" cy="14400"/>
          </a:xfrm>
          <a:prstGeom prst="rect">
            <a:avLst/>
          </a:prstGeom>
          <a:solidFill>
            <a:srgbClr val="8AD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0720" y="1781999"/>
            <a:ext cx="1449360" cy="396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1A1A1A"/>
                </a:solidFill>
                <a:latin typeface="맑은 고딕"/>
              </a:rPr>
              <a:t>0.975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2268000"/>
            <a:ext cx="1737360" cy="576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000" y="2268000"/>
            <a:ext cx="1737360" cy="14400"/>
          </a:xfrm>
          <a:prstGeom prst="rect">
            <a:avLst/>
          </a:prstGeom>
          <a:solidFill>
            <a:srgbClr val="8AD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00" y="2357999"/>
            <a:ext cx="1449360" cy="396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1A1A1A"/>
                </a:solidFill>
                <a:latin typeface="맑은 고딕"/>
              </a:rPr>
              <a:t>미세조정 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69360" y="2268000"/>
            <a:ext cx="1737360" cy="576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69360" y="2268000"/>
            <a:ext cx="1737360" cy="14400"/>
          </a:xfrm>
          <a:prstGeom prst="rect">
            <a:avLst/>
          </a:prstGeom>
          <a:solidFill>
            <a:srgbClr val="8AD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13360" y="2357999"/>
            <a:ext cx="1449360" cy="396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1A1A1A"/>
                </a:solidFill>
                <a:latin typeface="맑은 고딕"/>
              </a:rPr>
              <a:t>0.485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06720" y="2268000"/>
            <a:ext cx="1737360" cy="576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06720" y="2268000"/>
            <a:ext cx="1737360" cy="14400"/>
          </a:xfrm>
          <a:prstGeom prst="rect">
            <a:avLst/>
          </a:prstGeom>
          <a:solidFill>
            <a:srgbClr val="8AD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50720" y="2357999"/>
            <a:ext cx="1449360" cy="396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1A1A1A"/>
                </a:solidFill>
                <a:latin typeface="맑은 고딕"/>
              </a:rPr>
              <a:t>0.893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3060000"/>
            <a:ext cx="5328000" cy="33980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2000" y="3060000"/>
            <a:ext cx="108000" cy="3398040"/>
          </a:xfrm>
          <a:prstGeom prst="rect">
            <a:avLst/>
          </a:prstGeom>
          <a:solidFill>
            <a:srgbClr val="066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000" y="3222000"/>
            <a:ext cx="475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02060"/>
                </a:solidFill>
                <a:latin typeface="맑은 고딕"/>
              </a:rPr>
              <a:t>파국적 망각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000" y="3564000"/>
            <a:ext cx="4752000" cy="275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0">
                <a:solidFill>
                  <a:srgbClr val="1A1A1A"/>
                </a:solidFill>
                <a:latin typeface="맑은 고딕"/>
              </a:rPr>
              <a:t>기저망까지 미세조정한 대가로 원 도메인이 하락했다. 도메인별 모델 분리 또는 기저망 동결로 완화할 수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043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0400"/>
            <a:ext cx="10692000" cy="93600"/>
          </a:xfrm>
          <a:prstGeom prst="rect">
            <a:avLst/>
          </a:prstGeom>
          <a:solidFill>
            <a:srgbClr val="29A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62000"/>
            <a:ext cx="792000" cy="35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8AD7E5"/>
                </a:solidFill>
                <a:latin typeface="맑은 고딕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999" y="126000"/>
            <a:ext cx="9108001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pic>
        <p:nvPicPr>
          <p:cNvPr id="6" name="Picture 5" descr="sam2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842" y="1116000"/>
            <a:ext cx="6176316" cy="345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4661999"/>
            <a:ext cx="9828000" cy="3634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A7A7A"/>
                </a:solidFill>
                <a:latin typeface="맑은 고딕"/>
              </a:rPr>
              <a:t>그림 12. 학습 이력이 없는 신규 궤도 환경에서 생성된 초안.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5025464"/>
            <a:ext cx="9828000" cy="234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확인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단일 프롬프트로 전 구간 초안이 생성되었다</a:t>
            </a:r>
          </a:p>
          <a:p>
            <a:pPr algn="l">
              <a:lnSpc>
                <a:spcPct val="134000"/>
              </a:lnSpc>
              <a:spcBef>
                <a:spcPts val="1200"/>
              </a:spcBef>
            </a:pPr>
            <a:r>
              <a:rPr sz="2700" b="1">
                <a:solidFill>
                  <a:srgbClr val="124378"/>
                </a:solidFill>
                <a:latin typeface="맑은 고딕"/>
              </a:rPr>
              <a:t>• 향후</a:t>
            </a:r>
            <a:r>
              <a:rPr sz="2700" b="0">
                <a:solidFill>
                  <a:srgbClr val="1A1A1A"/>
                </a:solidFill>
                <a:latin typeface="맑은 고딕"/>
              </a:rPr>
              <a:t>  망각을 억제하는 도메인 적응, 반복 부트스트래핑의 정량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912000"/>
            <a:ext cx="982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7A7A7A"/>
                </a:solidFill>
                <a:latin typeface="맑은 고딕"/>
              </a:rPr>
              <a:t>한국철도기술연구원 주요사업 철도 특화 로봇 기반 선로점검 핵심기술 개발(PK26312A1)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