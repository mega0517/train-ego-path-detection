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맑은 고딕"/>
              </a:rPr>
              <a:t>시간적 지터 (px, 낮을수록 안정) — 보류 시퀀스 4개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단일 프레임</c:v>
                </c:pt>
              </c:strCache>
            </c:strRef>
          </c:tx>
          <c:spPr>
            <a:solidFill>
              <a:srgbClr val="90A4AE"/>
            </a:solidFill>
          </c:spPr>
          <c:cat>
            <c:strRef>
              <c:f>Sheet1!$A$2:$A$3</c:f>
              <c:strCache>
                <c:ptCount val="2"/>
                <c:pt idx="0">
                  <c:v>정상</c:v>
                </c:pt>
                <c:pt idx="1">
                  <c:v>교란 σ=0.008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19.17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RNN 재학습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Sheet1!$A$2:$A$3</c:f>
              <c:strCache>
                <c:ptCount val="2"/>
                <c:pt idx="0">
                  <c:v>정상</c:v>
                </c:pt>
                <c:pt idx="1">
                  <c:v>교란 σ=0.008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3.79</c:v>
                </c:pt>
                <c:pt idx="1">
                  <c:v>19.15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EMA α=0.5</c:v>
                </c:pt>
              </c:strCache>
            </c:strRef>
          </c:tx>
          <c:spPr>
            <a:solidFill>
              <a:srgbClr val="4FC3F7"/>
            </a:solidFill>
          </c:spPr>
          <c:cat>
            <c:strRef>
              <c:f>Sheet1!$A$2:$A$3</c:f>
              <c:strCache>
                <c:ptCount val="2"/>
                <c:pt idx="0">
                  <c:v>정상</c:v>
                </c:pt>
                <c:pt idx="1">
                  <c:v>교란 σ=0.008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2.63</c:v>
                </c:pt>
                <c:pt idx="1">
                  <c:v>8.56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boxcar-5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Sheet1!$A$2:$A$3</c:f>
              <c:strCache>
                <c:ptCount val="2"/>
                <c:pt idx="0">
                  <c:v>정상</c:v>
                </c:pt>
                <c:pt idx="1">
                  <c:v>교란 σ=0.008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2.39</c:v>
                </c:pt>
                <c:pt idx="1">
                  <c:v>5.11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64592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19456"/>
            <a:ext cx="2760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baseline="0">
                <a:solidFill>
                  <a:srgbClr val="FFFFFF"/>
                </a:solidFill>
                <a:latin typeface="맑은 고딕"/>
              </a:rPr>
              <a:t>철도 자기 경로(Ego-Path) 검출을 위한 SAM2 기반 학습 데이터 자동 구축 및 학습·평가 파이프라인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baseline="0">
                <a:solidFill>
                  <a:srgbClr val="B0BEC5"/>
                </a:solidFill>
                <a:latin typeface="맑은 고딕"/>
              </a:rPr>
              <a:t>김백현 · 황현철† (한국철도기술연구원)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03320" cy="2395728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baseline="0">
                <a:solidFill>
                  <a:srgbClr val="C62828"/>
                </a:solidFill>
                <a:latin typeface="맑은 고딕"/>
              </a:rPr>
              <a:t>문제 — 실무의 세 가지 병목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429000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라벨링 비용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프레임마다 좌·우 레일 수작업, 비디오 수백~수천 장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도메인 이동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일반철도(RailSem19) 학습 모델이 노면 전차에서 실패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작업 흐름 분절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라벨–학습–추론–평가가 스크립트/환경별로 단절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371600"/>
            <a:ext cx="3703320" cy="2395728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46304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baseline="0">
                <a:solidFill>
                  <a:srgbClr val="2E7D32"/>
                </a:solidFill>
                <a:latin typeface="맑은 고딕"/>
              </a:rPr>
              <a:t>제안 ① SAM2 학습 데이터 자동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847088"/>
            <a:ext cx="3429000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비디오 전파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첫 프레임 궤도 1회 프롬프트(마우스 클릭) → SAM2가 전 프레임에 마스크 전파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레일 추출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마스크 좌·우 경계 → RDP 단순화(48→6점)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도메인 무관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학습 모델이 실패한 노면 전차 290프레임 초안 라벨 성공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3703320" cy="2395728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46304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baseline="0">
                <a:solidFill>
                  <a:srgbClr val="00838F"/>
                </a:solidFill>
                <a:latin typeface="맑은 고딕"/>
              </a:rPr>
              <a:t>제안 ② 웹 통합 학습·평가 파이프라인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847088"/>
            <a:ext cx="3429000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브라우저 일원화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라벨링·학습(다중 GPU)·추론·평가·로컬↔서버 파일관리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단일/RNN 병행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단일 프레임·시간적(RNN) 모델 관리, 지연·FPS 비교 지표</a:t>
            </a:r>
          </a:p>
          <a:p>
            <a:pPr algn="l">
              <a:lnSpc>
                <a:spcPct val="116000"/>
              </a:lnSpc>
            </a:pPr>
            <a:r>
              <a:rPr sz="1250" b="1" baseline="0">
                <a:solidFill>
                  <a:srgbClr val="1B262C"/>
                </a:solidFill>
                <a:latin typeface="맑은 고딕"/>
              </a:rPr>
              <a:t>▪ 시간적 안정성 평가</a:t>
            </a:r>
            <a:r>
              <a:rPr sz="1250" b="0" baseline="0">
                <a:solidFill>
                  <a:srgbClr val="47505C"/>
                </a:solidFill>
                <a:latin typeface="맑은 고딕"/>
              </a:rPr>
              <a:t>  정답 라벨 없는 지터·일관성 IoU + 진단–처방–검증 절차</a:t>
            </a:r>
          </a:p>
        </p:txBody>
      </p:sp>
      <p:pic>
        <p:nvPicPr>
          <p:cNvPr id="16" name="Picture 15" descr="fig1_labeling_sam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31920"/>
            <a:ext cx="3679521" cy="2514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64739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baseline="0">
                <a:solidFill>
                  <a:srgbClr val="47505C"/>
                </a:solidFill>
                <a:latin typeface="맑은 고딕"/>
              </a:rPr>
              <a:t>그림 1. 라벨링 화면 — 모델 자동 라벨 + SAM2 비디오 전파(마우스 프롬프트)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931920"/>
            <a:ext cx="6793992" cy="25146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4133088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baseline="0">
                <a:solidFill>
                  <a:srgbClr val="FFFFFF"/>
                </a:solidFill>
                <a:latin typeface="맑은 고딕"/>
              </a:rPr>
              <a:t>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553712"/>
            <a:ext cx="6309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baseline="0">
                <a:solidFill>
                  <a:srgbClr val="FFFFFF"/>
                </a:solidFill>
                <a:latin typeface="맑은 고딕"/>
              </a:rPr>
              <a:t>영상 프레임 </a:t>
            </a:r>
            <a:r>
              <a:rPr sz="1400" b="1" baseline="0">
                <a:solidFill>
                  <a:srgbClr val="9CCC65"/>
                </a:solidFill>
                <a:latin typeface="맑은 고딕"/>
              </a:rPr>
              <a:t>→ SAM2 전파 → 레일 라벨(초안) → 웹 라벨링 검수·보정</a:t>
            </a:r>
          </a:p>
          <a:p>
            <a:pPr algn="l">
              <a:lnSpc>
                <a:spcPct val="150000"/>
              </a:lnSpc>
            </a:pPr>
            <a:r>
              <a:rPr sz="1400" b="1" baseline="0">
                <a:solidFill>
                  <a:srgbClr val="4FC3F7"/>
                </a:solidFill>
                <a:latin typeface="맑은 고딕"/>
              </a:rPr>
              <a:t>→ 학습(단일/RNN, 다중 GPU) → 추론·평가(IoU·지연·시간적 안정성)</a:t>
            </a:r>
          </a:p>
          <a:p>
            <a:pPr algn="l">
              <a:lnSpc>
                <a:spcPct val="150000"/>
              </a:lnSpc>
            </a:pPr>
            <a:r>
              <a:rPr sz="1400" b="0" baseline="0">
                <a:solidFill>
                  <a:srgbClr val="47505C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baseline="0">
                <a:solidFill>
                  <a:srgbClr val="FFFFFF"/>
                </a:solidFill>
                <a:latin typeface="맑은 고딕"/>
              </a:rPr>
              <a:t>전 과정이 하나의 웹 앱에서 SSE 실시간 진행률과 함께 수행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baseline="0">
                <a:solidFill>
                  <a:srgbClr val="FFFFFF"/>
                </a:solidFill>
                <a:latin typeface="맑은 고딕"/>
              </a:rPr>
              <a:t>주요 결과 — 정확도·지연·시간적 안정성(진단–처방–검증)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822191" cy="2560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35478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baseline="0">
                <a:solidFill>
                  <a:srgbClr val="2E7D32"/>
                </a:solidFill>
                <a:latin typeface="맑은 고딕"/>
              </a:rPr>
              <a:t>① 정확도·지연 (RailSem19 / A100)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54787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프레임별 IoU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단일 0.965–0.978, RNN 0.973–0.974 (테스트 792장)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RNN ≈ 단일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ΔIoU −0.001~−0.003 — 사실상 동일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지연(A100)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단일 32.8 ms(30.5 fps) vs RNN 33.2 ms(30.1 fps) = 1.01×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SAM2 라벨링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노면 전차 290프레임 도메인 무관 초안 성공(정성)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7952" y="960120"/>
            <a:ext cx="3822191" cy="2560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051560"/>
            <a:ext cx="35478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baseline="0">
                <a:solidFill>
                  <a:srgbClr val="C62828"/>
                </a:solidFill>
                <a:latin typeface="맑은 고딕"/>
              </a:rPr>
              <a:t>② 진단 — RNN 정련부의 조용한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1417320"/>
            <a:ext cx="354787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연속 13시퀀스(1,214프레임)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지터·일관성 IoU가 단일과 완전 동일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원시 출력 분석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잔차형 정련부가 항등 함수에 수렴(편차 ≤0.06%)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원인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0-초기화 잔차 + 유사-시퀀스 학습 → 항등이 국소최적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의의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정답 라벨 없는 지표로 silent failure 정량 진단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3" y="960120"/>
            <a:ext cx="3822191" cy="2560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3" y="1051560"/>
            <a:ext cx="35478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baseline="0">
                <a:solidFill>
                  <a:srgbClr val="00838F"/>
                </a:solidFill>
                <a:latin typeface="맑은 고딕"/>
              </a:rPr>
              <a:t>③ 처방·검증 — 단순 필터가 여지를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3" y="1417320"/>
            <a:ext cx="354787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재학습(실제 시퀀스+denoise)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항등 탈출 실패 — 개선 없음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5프레임 이동평균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지터 −37%(3.80→2.39px), 교란 시 −73%(19.2→5.1px)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정확도 무손실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교란 시 정답 IoU 0.673→0.677(정상 수준 회복)</a:t>
            </a:r>
          </a:p>
          <a:p>
            <a:pPr algn="l">
              <a:lnSpc>
                <a:spcPct val="116000"/>
              </a:lnSpc>
            </a:pPr>
            <a:r>
              <a:rPr sz="1200" b="1" baseline="0">
                <a:solidFill>
                  <a:srgbClr val="1B262C"/>
                </a:solidFill>
                <a:latin typeface="맑은 고딕"/>
              </a:rPr>
              <a:t>▪ 실무 처방</a:t>
            </a:r>
            <a:r>
              <a:rPr sz="1200" b="0" baseline="0">
                <a:solidFill>
                  <a:srgbClr val="47505C"/>
                </a:solidFill>
                <a:latin typeface="맑은 고딕"/>
              </a:rPr>
              <a:t>  경량 시간 필터 기본 채택, 학습형 모듈은 지표로 검증</a:t>
            </a:r>
          </a:p>
        </p:txBody>
      </p:sp>
      <p:pic>
        <p:nvPicPr>
          <p:cNvPr id="13" name="Picture 12" descr="fig2_inference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75887"/>
            <a:ext cx="2889593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baseline="0">
                <a:solidFill>
                  <a:srgbClr val="47505C"/>
                </a:solidFill>
                <a:latin typeface="맑은 고딕"/>
              </a:rPr>
              <a:t>그림 2. 추론 화면 — 단일 vs RNN 병렬 비교·지연 지표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3675887"/>
            <a:ext cx="7936992" cy="265176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3858767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baseline="0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4279391"/>
            <a:ext cx="7406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baseline="0">
                <a:solidFill>
                  <a:srgbClr val="FFFFFF"/>
                </a:solidFill>
                <a:latin typeface="맑은 고딕"/>
              </a:rPr>
              <a:t>• SAM2 비디오 전파로 </a:t>
            </a:r>
            <a:r>
              <a:rPr sz="1350" b="1" baseline="0">
                <a:solidFill>
                  <a:srgbClr val="9CCC65"/>
                </a:solidFill>
                <a:latin typeface="맑은 고딕"/>
              </a:rPr>
              <a:t>도메인 무관 학습 데이터 자동 구축</a:t>
            </a:r>
            <a:r>
              <a:rPr sz="1350" b="0" baseline="0">
                <a:solidFill>
                  <a:srgbClr val="FFFFFF"/>
                </a:solidFill>
                <a:latin typeface="맑은 고딕"/>
              </a:rPr>
              <a:t> — 라벨링 병목 완화</a:t>
            </a:r>
          </a:p>
          <a:p>
            <a:pPr algn="l">
              <a:lnSpc>
                <a:spcPct val="135000"/>
              </a:lnSpc>
            </a:pPr>
            <a:r>
              <a:rPr sz="1350" b="0" baseline="0">
                <a:solidFill>
                  <a:srgbClr val="FFFFFF"/>
                </a:solidFill>
                <a:latin typeface="맑은 고딕"/>
              </a:rPr>
              <a:t>• 웹 통합 파이프라인으로 라벨–학습–평가 반복을 일원화</a:t>
            </a:r>
          </a:p>
          <a:p>
            <a:pPr algn="l">
              <a:lnSpc>
                <a:spcPct val="135000"/>
              </a:lnSpc>
            </a:pPr>
            <a:r>
              <a:rPr sz="1350" b="0" baseline="0">
                <a:solidFill>
                  <a:srgbClr val="FFFFFF"/>
                </a:solidFill>
                <a:latin typeface="맑은 고딕"/>
              </a:rPr>
              <a:t>• 시간적 안정성 지표(지터·일관성 IoU)로 </a:t>
            </a:r>
            <a:r>
              <a:rPr sz="1350" b="1" baseline="0">
                <a:solidFill>
                  <a:srgbClr val="FFAB91"/>
                </a:solidFill>
                <a:latin typeface="맑은 고딕"/>
              </a:rPr>
              <a:t>학습형 시간 모듈의 silent failure를 진단</a:t>
            </a:r>
          </a:p>
          <a:p>
            <a:pPr algn="l">
              <a:lnSpc>
                <a:spcPct val="135000"/>
              </a:lnSpc>
            </a:pPr>
            <a:r>
              <a:rPr sz="1350" b="1" baseline="0">
                <a:solidFill>
                  <a:srgbClr val="4FC3F7"/>
                </a:solidFill>
                <a:latin typeface="맑은 고딕"/>
              </a:rPr>
              <a:t>• 시간적 안정화는 5프레임 이동평균으로 달성(지터 −37/−73%, 정확도 무손실)</a:t>
            </a:r>
          </a:p>
          <a:p>
            <a:pPr algn="l">
              <a:lnSpc>
                <a:spcPct val="135000"/>
              </a:lnSpc>
            </a:pPr>
            <a:r>
              <a:rPr sz="1400" b="0" baseline="0">
                <a:solidFill>
                  <a:srgbClr val="47505C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baseline="0">
                <a:solidFill>
                  <a:srgbClr val="B0BEC5"/>
                </a:solidFill>
                <a:latin typeface="맑은 고딕"/>
              </a:rPr>
              <a:t>사사: 한국철도기술연구원 주요사업 「철도 특화 로봇 기반 선로점검 핵심기술 개발(PK26312A1)」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baseline="0">
                <a:solidFill>
                  <a:srgbClr val="FFFFFF"/>
                </a:solidFill>
                <a:latin typeface="맑은 고딕"/>
              </a:rPr>
              <a:t>도메인 이동 실증 — 학습 모델의 실패 vs SAM2의 도메인 무관 라벨링 (노면 전차)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baseline="0">
                <a:solidFill>
                  <a:srgbClr val="47505C"/>
                </a:solidFill>
                <a:latin typeface="맑은 고딕"/>
              </a:rPr>
              <a:t>동일한 노면 전차 영상(290 프레임)에 대해, RailSem19(일반철도) 학습 모델과 SAM2 비디오 전파를 비교</a:t>
            </a:r>
          </a:p>
        </p:txBody>
      </p:sp>
      <p:pic>
        <p:nvPicPr>
          <p:cNvPr id="5" name="Picture 4" descr="fig3_model_fail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8412480" cy="1561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46304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baseline="0">
                <a:solidFill>
                  <a:srgbClr val="C62828"/>
                </a:solidFill>
                <a:latin typeface="맑은 고딕"/>
              </a:rPr>
              <a:t>학습 모델 (RailSem19)</a:t>
            </a:r>
          </a:p>
          <a:p>
            <a:pPr algn="l">
              <a:lnSpc>
                <a:spcPct val="130000"/>
              </a:lnSpc>
            </a:pPr>
            <a:r>
              <a:rPr sz="1250" b="0" baseline="0">
                <a:solidFill>
                  <a:srgbClr val="47505C"/>
                </a:solidFill>
                <a:latin typeface="맑은 고딕"/>
              </a:rPr>
              <a:t>궤도를 부분적으로만 추종, 상단·곡선 이탈</a:t>
            </a:r>
          </a:p>
          <a:p>
            <a:pPr algn="l">
              <a:lnSpc>
                <a:spcPct val="130000"/>
              </a:lnSpc>
            </a:pPr>
            <a:r>
              <a:rPr sz="1250" b="0" baseline="0">
                <a:solidFill>
                  <a:srgbClr val="47505C"/>
                </a:solidFill>
                <a:latin typeface="맑은 고딕"/>
              </a:rPr>
              <a:t>→ 도메인 이동으로 초안 라벨 품질 저하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844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baseline="0">
                <a:solidFill>
                  <a:srgbClr val="47505C"/>
                </a:solidFill>
                <a:latin typeface="맑은 고딕"/>
              </a:rPr>
              <a:t>학습 모델(regression)의 초안 — 좌(초록)·우(빨강) 레일이 궤도를 온전히 감싸지 못함</a:t>
            </a:r>
          </a:p>
        </p:txBody>
      </p:sp>
      <p:pic>
        <p:nvPicPr>
          <p:cNvPr id="8" name="Picture 7" descr="fig4_sam2_t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8412480" cy="1555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4069079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baseline="0">
                <a:solidFill>
                  <a:srgbClr val="2E7D32"/>
                </a:solidFill>
                <a:latin typeface="맑은 고딕"/>
              </a:rPr>
              <a:t>SAM2 비디오 전파</a:t>
            </a:r>
          </a:p>
          <a:p>
            <a:pPr algn="l">
              <a:lnSpc>
                <a:spcPct val="130000"/>
              </a:lnSpc>
            </a:pPr>
            <a:r>
              <a:rPr sz="1250" b="0" baseline="0">
                <a:solidFill>
                  <a:srgbClr val="47505C"/>
                </a:solidFill>
                <a:latin typeface="맑은 고딕"/>
              </a:rPr>
              <a:t>첫 프레임 프롬프트 1회 → 290프레임 전파</a:t>
            </a:r>
          </a:p>
          <a:p>
            <a:pPr algn="l">
              <a:lnSpc>
                <a:spcPct val="130000"/>
              </a:lnSpc>
            </a:pPr>
            <a:r>
              <a:rPr sz="1250" b="0" baseline="0">
                <a:solidFill>
                  <a:srgbClr val="47505C"/>
                </a:solidFill>
                <a:latin typeface="맑은 고딕"/>
              </a:rPr>
              <a:t>곡선 구간 포함 궤도를 브래킷</a:t>
            </a:r>
          </a:p>
          <a:p>
            <a:pPr algn="l">
              <a:lnSpc>
                <a:spcPct val="130000"/>
              </a:lnSpc>
            </a:pPr>
            <a:r>
              <a:rPr sz="1250" b="1" baseline="0">
                <a:solidFill>
                  <a:srgbClr val="00838F"/>
                </a:solidFill>
                <a:latin typeface="맑은 고딕"/>
              </a:rPr>
              <a:t>학습 데이터 도메인과 무관하게 동작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0487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baseline="0">
                <a:solidFill>
                  <a:srgbClr val="47505C"/>
                </a:solidFill>
                <a:latin typeface="맑은 고딕"/>
              </a:rPr>
              <a:t>SAM2 전파 결과 — 처음·중간·끝 프레임에서 좌·우 레일이 궤도를 안정적으로 추종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반자동 라벨링 3종: 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모델 기반(도메인 內 최적) · SAM2 전파(도메인 무관) · RDP 점 단순화(48→6점, 보정 부담↓) — 초안 생성 후 웹 라벨링 탭에서 검수·보정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baseline="0">
                <a:solidFill>
                  <a:srgbClr val="FFFFFF"/>
                </a:solidFill>
                <a:latin typeface="맑은 고딕"/>
              </a:rPr>
              <a:t>시간적 안정성 평가 상세 — 지표·프로토콜과 처방별 수치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114800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baseline="0">
                <a:solidFill>
                  <a:srgbClr val="1B262C"/>
                </a:solidFill>
                <a:latin typeface="맑은 고딕"/>
              </a:rPr>
              <a:t>지표 정의 (정답 라벨 불필요)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44752"/>
            <a:ext cx="3840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시간적 지터 (px)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고정 y-격자에서 레일 x좌표의 연속 프레임 간 평균 절대 변위</a:t>
            </a:r>
          </a:p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일관성 IoU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연속 프레임 예측 경로 마스크 간 IoU</a:t>
            </a:r>
          </a:p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통제 프로토콜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detect_pair: 동일 forward에서 단일/RNN 동시 산출 → 차이는 순수 RNN 효과</a:t>
            </a:r>
          </a:p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조건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OSDaR23 연속 13시퀀스(1,214프레임), 학습 9/보류 4 분할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31920"/>
            <a:ext cx="4114800" cy="26060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233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baseline="0">
                <a:solidFill>
                  <a:srgbClr val="1B262C"/>
                </a:solidFill>
                <a:latin typeface="맑은 고딕"/>
              </a:rPr>
              <a:t>정답 IoU (라벨 시퀀스 30프레임)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407408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정상 조건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단일 0.6769 → boxcar-5 0.6775 (무손실)</a:t>
            </a:r>
          </a:p>
          <a:p>
            <a:pPr algn="l">
              <a:lnSpc>
                <a:spcPct val="116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▪ 교란 σ=0.008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  단일 0.6729 → boxcar-5 0.6772 (정상 수준 회복)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5778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baseline="0">
                <a:solidFill>
                  <a:srgbClr val="1B262C"/>
                </a:solidFill>
                <a:latin typeface="맑은 고딕"/>
              </a:rPr>
              <a:t>향후 과제: </a:t>
            </a:r>
            <a:r>
              <a:rPr sz="1150" b="0" baseline="0">
                <a:solidFill>
                  <a:srgbClr val="47505C"/>
                </a:solidFill>
                <a:latin typeface="맑은 고딕"/>
              </a:rPr>
              <a:t>필터 증류 기반 학습형 시간 모듈 재설계 · 노면 전차 정답셋 구축 후 대상 도메인 정량 검증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0" y="96012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0" y="5349240"/>
            <a:ext cx="7315200" cy="118872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54864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baseline="0">
                <a:solidFill>
                  <a:srgbClr val="FFFFFF"/>
                </a:solidFill>
                <a:latin typeface="맑은 고딕"/>
              </a:rPr>
              <a:t>판정: </a:t>
            </a:r>
            <a:r>
              <a:rPr sz="1300" b="0" baseline="0">
                <a:solidFill>
                  <a:srgbClr val="FFAB91"/>
                </a:solidFill>
                <a:latin typeface="맑은 고딕"/>
              </a:rPr>
              <a:t>학습된 RNN 정련부(재학습 포함)는 단일과 동일 — 항등 수렴(silent failure). </a:t>
            </a:r>
          </a:p>
          <a:p>
            <a:pPr algn="l">
              <a:lnSpc>
                <a:spcPct val="135000"/>
              </a:lnSpc>
            </a:pPr>
            <a:r>
              <a:rPr sz="1300" b="1" baseline="0">
                <a:solidFill>
                  <a:srgbClr val="9CCC65"/>
                </a:solidFill>
                <a:latin typeface="맑은 고딕"/>
              </a:rPr>
              <a:t>단순 이동평균이 지터 −37%(정상)/−73%(교란)를 정확도 손실 없이 달성 → 경량 필터가 실무 처방.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baseline="0">
                <a:solidFill>
                  <a:srgbClr val="FFFFFF"/>
                </a:solidFill>
                <a:latin typeface="맑은 고딕"/>
              </a:rPr>
              <a:t>추론 탭 — 단일 프레임 vs RNN 실시간 병렬 비교</a:t>
            </a:r>
          </a:p>
        </p:txBody>
      </p:sp>
      <p:pic>
        <p:nvPicPr>
          <p:cNvPr id="4" name="Picture 3" descr="fig2_inference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829007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3550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baseline="0">
                <a:solidFill>
                  <a:srgbClr val="47505C"/>
                </a:solidFill>
                <a:latin typeface="맑은 고딕"/>
              </a:rPr>
              <a:t>추론 화면 — 원본/단일/RNN 3패널, 하단 성능 지표와 결과 슬라이더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5623560" cy="153619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2412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baseline="0">
                <a:solidFill>
                  <a:srgbClr val="2E7D32"/>
                </a:solidFill>
                <a:latin typeface="맑은 고딕"/>
              </a:rPr>
              <a:t>입력 3방식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4924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파일 업로드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이미지·비디오(HEVC 폴백, HEIC 지원, 서버 캐시로 재업로드 생략)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폴더 일괄 업로드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브라우저에서 이미지 폴더 선택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서버 폴더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업로드 없이 직접 처리(가장 빠름) + 대용량 이미지 최적화→JPEG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587752"/>
            <a:ext cx="5623560" cy="153619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baseline="0">
                <a:solidFill>
                  <a:srgbClr val="00838F"/>
                </a:solidFill>
                <a:latin typeface="맑은 고딕"/>
              </a:rPr>
              <a:t>실행 옵션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53512"/>
            <a:ext cx="534924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모델·디바이스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단일+RNN 쌍 목록에서 선택, GPU 지정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크롭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None / Auto(자동 관심영역) / Manual 좌표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비디오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프레임 간격(stride)·처리 해상도(480p~원본)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215384"/>
            <a:ext cx="5623560" cy="153619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79392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baseline="0">
                <a:solidFill>
                  <a:srgbClr val="1B262C"/>
                </a:solidFill>
                <a:latin typeface="맑은 고딕"/>
              </a:rPr>
              <a:t>결과·성능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81144"/>
            <a:ext cx="534924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3패널 병렬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원본·단일·RNN을 프레임마다 동시 갱신(SSE 실시간)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결과 슬라이더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이전/다음·키보드 ←→·핀치 줌, 위치 카운터</a:t>
            </a:r>
          </a:p>
          <a:p>
            <a:pPr algn="l">
              <a:lnSpc>
                <a:spcPct val="110000"/>
              </a:lnSpc>
            </a:pPr>
            <a:r>
              <a:rPr sz="1100" b="1" baseline="0">
                <a:solidFill>
                  <a:srgbClr val="1B262C"/>
                </a:solidFill>
                <a:latin typeface="맑은 고딕"/>
              </a:rPr>
              <a:t>▪ 성능 지표</a:t>
            </a:r>
            <a:r>
              <a:rPr sz="1100" b="0" baseline="0">
                <a:solidFill>
                  <a:srgbClr val="47505C"/>
                </a:solidFill>
                <a:latin typeface="맑은 고딕"/>
              </a:rPr>
              <a:t>  방법별 지연·FPS 자동 집계 — A100: 단일 32.8 ms vs RNN 33.2 ms (1.01×)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5843016"/>
            <a:ext cx="5623560" cy="841248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934456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baseline="0">
                <a:solidFill>
                  <a:srgbClr val="FFFFFF"/>
                </a:solidFill>
                <a:latin typeface="맑은 고딕"/>
              </a:rPr>
              <a:t>활용: </a:t>
            </a:r>
            <a:r>
              <a:rPr sz="1250" b="0" baseline="0">
                <a:solidFill>
                  <a:srgbClr val="FFFFFF"/>
                </a:solidFill>
                <a:latin typeface="맑은 고딕"/>
              </a:rPr>
              <a:t>새 도메인 영상에 대한 모델 적합성 판단, 단일 vs RNN 육안·정량 비교, </a:t>
            </a:r>
          </a:p>
          <a:p>
            <a:pPr algn="l">
              <a:lnSpc>
                <a:spcPct val="130000"/>
              </a:lnSpc>
            </a:pPr>
            <a:r>
              <a:rPr sz="1250" b="1" baseline="0">
                <a:solidFill>
                  <a:srgbClr val="4FC3F7"/>
                </a:solidFill>
                <a:latin typeface="맑은 고딕"/>
              </a:rPr>
              <a:t>배포 전 지연시간 실측(실기기)까지 브라우저에서 즉시 수행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