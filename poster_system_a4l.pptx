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통합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3887999" cy="3267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과제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라벨링 비용과 노선이 바뀌면 무너지는 정확도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접근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초안 생성과 검수, 학습을 한 브라우저에서 잇는다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599456"/>
            <a:ext cx="3887999" cy="229771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761456"/>
            <a:ext cx="3383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139456"/>
            <a:ext cx="3383999" cy="161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1">
                <a:solidFill>
                  <a:srgbClr val="9CCC65"/>
                </a:solidFill>
                <a:latin typeface="맑은 고딕"/>
              </a:rPr>
              <a:t>도구를 오가며 생기는 형식 변환을 없앤다.</a:t>
            </a:r>
          </a:p>
        </p:txBody>
      </p:sp>
      <p:pic>
        <p:nvPicPr>
          <p:cNvPr id="10" name="Picture 9" descr="screen_lau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999" y="1116000"/>
            <a:ext cx="5652001" cy="3532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7999" y="4756500"/>
            <a:ext cx="5652001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600" b="0">
                <a:solidFill>
                  <a:srgbClr val="47505C"/>
                </a:solidFill>
                <a:latin typeface="맑은 고딕"/>
              </a:rPr>
              <a:t>화면 1. 원본 저장소 뷰어. TEP-Net 구조와 README를 앱 안에서 확인한다.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세 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9828000" cy="3395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1계층 라벨링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초안 생성과 점 단위 보정, 검수 큐로 사람이 볼 프레임을 추린다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2계층 학습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베이스 모델을 골라 그 위에 RNN을 전이학습한다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3계층 추론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단일 프레임과 시간 모델의 결과를 나란히 내고 지연을 함께 표시한다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727472"/>
            <a:ext cx="9828000" cy="2799616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889472"/>
            <a:ext cx="9324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267472"/>
            <a:ext cx="9324000" cy="2115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등록된 검출 모델 8종, NVIDIA A100 80GB 가속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600" b="1">
                <a:solidFill>
                  <a:srgbClr val="4FC3F7"/>
                </a:solidFill>
                <a:latin typeface="맑은 고딕"/>
              </a:rPr>
              <a:t>서버 데이터셋 폴더 18개를 앱에서 직접 관리한다.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라벨링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3887999" cy="3267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전파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첫 프레임에 프롬프트를 찍으면 폴더 전체로 퍼진다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보정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좌우 레일을 점 단위로 다듬는다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599456"/>
            <a:ext cx="3887999" cy="229771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761456"/>
            <a:ext cx="3383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이어짐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139456"/>
            <a:ext cx="3383999" cy="161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1">
                <a:solidFill>
                  <a:srgbClr val="9CCC65"/>
                </a:solidFill>
                <a:latin typeface="맑은 고딕"/>
              </a:rPr>
              <a:t>확정 라벨을 다음 프레임 초안으로 전파한다.</a:t>
            </a:r>
          </a:p>
        </p:txBody>
      </p:sp>
      <p:pic>
        <p:nvPicPr>
          <p:cNvPr id="10" name="Picture 9" descr="fig1_labeling_sa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999" y="1116000"/>
            <a:ext cx="5652001" cy="38626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7999" y="5086601"/>
            <a:ext cx="5652001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600" b="0">
                <a:solidFill>
                  <a:srgbClr val="47505C"/>
                </a:solidFill>
                <a:latin typeface="맑은 고딕"/>
              </a:rPr>
              <a:t>화면 2. 곡선 보간과 굵기를 조절하며 초안을 검수한다.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자동 라벨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9828000" cy="3395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모델 자동 라벨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도메인이 맞을 때 가장 깨끗한 초안을 낸다. 시드와 추적이 없어 드리프트가 생기지 않는다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SAM 2 전파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레일을 학습한 적이 없어도 지정한 궤도를 시퀀스 전반에서 추적한다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곡선 보간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점 세 개에서 레일 한 줄을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727472"/>
            <a:ext cx="9828000" cy="229771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889472"/>
            <a:ext cx="9324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선택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267472"/>
            <a:ext cx="9324000" cy="161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1">
                <a:solidFill>
                  <a:srgbClr val="9CCC65"/>
                </a:solidFill>
                <a:latin typeface="맑은 고딕"/>
              </a:rPr>
              <a:t>도메인이 맞으면 모델, 바뀌면 SAM 2 전파를 쓴다.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600" b="0">
                <a:solidFill>
                  <a:srgbClr val="FFFFFF"/>
                </a:solidFill>
                <a:latin typeface="맑은 고딕"/>
              </a:rPr>
              <a:t>어긋난 프레임만 사람이 손본다.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도메인 이동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3887999" cy="2135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실증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일반 철도로 학습한 모델은 노면 전차에서 궤도를 놓친다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3467632"/>
            <a:ext cx="3887999" cy="330152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3629632"/>
            <a:ext cx="3383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대안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007632"/>
            <a:ext cx="3383999" cy="26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SAM 2 전파는 첫 프레임 지정만으로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600" b="1">
                <a:solidFill>
                  <a:srgbClr val="9CCC65"/>
                </a:solidFill>
                <a:latin typeface="맑은 고딕"/>
              </a:rPr>
              <a:t>290 프레임을 추적했다.</a:t>
            </a:r>
          </a:p>
        </p:txBody>
      </p:sp>
      <p:pic>
        <p:nvPicPr>
          <p:cNvPr id="10" name="Picture 9" descr="fig3_model_fail_t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999" y="1116000"/>
            <a:ext cx="5652001" cy="10488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7999" y="2272824"/>
            <a:ext cx="5652001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600" b="0">
                <a:solidFill>
                  <a:srgbClr val="47505C"/>
                </a:solidFill>
                <a:latin typeface="맑은 고딕"/>
              </a:rPr>
              <a:t>화면 3. 학습 모델의 초안이 자기 궤도를 벗어나 인접 궤도와 주변 차량으로 이탈한다.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학습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3887999" cy="3267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전이학습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베이스 위에 RNN을 얹는다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설정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에폭, 배치, 학습률, 학습 GPU를 지정한다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599456"/>
            <a:ext cx="3887999" cy="229771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761456"/>
            <a:ext cx="3383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선택지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139456"/>
            <a:ext cx="3383999" cy="161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베이스 동결과 미세조정, GPU 전처리, 다중 GPU</a:t>
            </a:r>
          </a:p>
        </p:txBody>
      </p:sp>
      <p:pic>
        <p:nvPicPr>
          <p:cNvPr id="10" name="Picture 9" descr="screen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999" y="1116000"/>
            <a:ext cx="5652001" cy="3532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7999" y="4756500"/>
            <a:ext cx="5652001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600" b="0">
                <a:solidFill>
                  <a:srgbClr val="47505C"/>
                </a:solidFill>
                <a:latin typeface="맑은 고딕"/>
              </a:rPr>
              <a:t>화면 4. 학습 곡선과 출력 모델명이 같은 화면에 남는다.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추론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3887999" cy="2135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3분할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원본과 단일 프레임, 시간 모델을 한 화면에 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3467632"/>
            <a:ext cx="3887999" cy="3803424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3629632"/>
            <a:ext cx="3383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측정된 지연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007632"/>
            <a:ext cx="3383999" cy="311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1">
                <a:solidFill>
                  <a:srgbClr val="4FC3F7"/>
                </a:solidFill>
                <a:latin typeface="맑은 고딕"/>
              </a:rPr>
              <a:t>30장 처리 5.8초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600" b="0">
                <a:solidFill>
                  <a:srgbClr val="FFFFFF"/>
                </a:solidFill>
                <a:latin typeface="맑은 고딕"/>
              </a:rPr>
              <a:t>단일 프레임 32.8 ms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600" b="0">
                <a:solidFill>
                  <a:srgbClr val="FFFFFF"/>
                </a:solidFill>
                <a:latin typeface="맑은 고딕"/>
              </a:rPr>
              <a:t>시간 모델 33.2 ms</a:t>
            </a:r>
          </a:p>
        </p:txBody>
      </p:sp>
      <p:pic>
        <p:nvPicPr>
          <p:cNvPr id="10" name="Picture 9" descr="fig2_inference_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187" y="1116000"/>
            <a:ext cx="4393625" cy="403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7999" y="5256000"/>
            <a:ext cx="5652001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600" b="0">
                <a:solidFill>
                  <a:srgbClr val="47505C"/>
                </a:solidFill>
                <a:latin typeface="맑은 고딕"/>
              </a:rPr>
              <a:t>화면 5. 같은 입력에 두 모델을 동시에 적용하고 초당 처리량을 함께 표시한다.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운영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3887999" cy="3267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파일 이동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로컬과 서버를 좌우 패널로 두고 복사한다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처리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업로드와 다운로드, 압축 해제를 앱 안에서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599456"/>
            <a:ext cx="3887999" cy="2799616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761456"/>
            <a:ext cx="3383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139456"/>
            <a:ext cx="3383999" cy="2115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서버 데이터셋 폴더 18개가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600" b="1">
                <a:solidFill>
                  <a:srgbClr val="4FC3F7"/>
                </a:solidFill>
                <a:latin typeface="맑은 고딕"/>
              </a:rPr>
              <a:t>이미지 수와 함께 보인다.</a:t>
            </a:r>
          </a:p>
        </p:txBody>
      </p:sp>
      <p:pic>
        <p:nvPicPr>
          <p:cNvPr id="10" name="Picture 9" descr="screen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999" y="1116000"/>
            <a:ext cx="5652001" cy="3532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7999" y="4756500"/>
            <a:ext cx="5652001" cy="268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600" b="0">
                <a:solidFill>
                  <a:srgbClr val="47505C"/>
                </a:solidFill>
                <a:latin typeface="맑은 고딕"/>
              </a:rPr>
              <a:t>화면 6. 파일 브라우저.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분기기 갤러리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3887999" cy="276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열람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국가와 노선, 영상 ID로 추린다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규모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분기기 통과 이벤트 273건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097552"/>
            <a:ext cx="3887999" cy="330152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259552"/>
            <a:ext cx="3383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지역 분포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637552"/>
            <a:ext cx="3383999" cy="26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영국 76, 일본 34, 슬로베니아 25,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600" b="1">
                <a:solidFill>
                  <a:srgbClr val="4FC3F7"/>
                </a:solidFill>
                <a:latin typeface="맑은 고딕"/>
              </a:rPr>
              <a:t>독일 22 등 18개 지역</a:t>
            </a:r>
          </a:p>
        </p:txBody>
      </p:sp>
      <p:pic>
        <p:nvPicPr>
          <p:cNvPr id="10" name="Picture 9" descr="screen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999" y="1116000"/>
            <a:ext cx="5652001" cy="3532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7999" y="4756500"/>
            <a:ext cx="5652001" cy="268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600" b="0">
                <a:solidFill>
                  <a:srgbClr val="47505C"/>
                </a:solidFill>
                <a:latin typeface="맑은 고딕"/>
              </a:rPr>
              <a:t>화면 7. 이벤트별 대표 프레임을 바로 확인한다.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보유 데이터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116000"/>
          <a:ext cx="9827998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1837"/>
                <a:gridCol w="1593729"/>
                <a:gridCol w="5312432"/>
              </a:tblGrid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분기기 이벤트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273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이벤트당 81 프레임, 진로상 전량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OSDaR23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1,535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연속 주행 시퀀스, 시간 모델 학습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크롤링 분기기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613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재추출로 화질 보강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노면 전차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290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도메인 이동 평가, 30 프레임 분리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32000" y="3492000"/>
            <a:ext cx="9828000" cy="1795808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3654000"/>
            <a:ext cx="9324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검수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032000"/>
            <a:ext cx="9324000" cy="1111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1">
                <a:solidFill>
                  <a:srgbClr val="4FC3F7"/>
                </a:solidFill>
                <a:latin typeface="맑은 고딕"/>
              </a:rPr>
              <a:t>검수 큐 417 프레임 중 9 완료. RailSem19 rs19_val 원본 보유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등록 모델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116000"/>
          <a:ext cx="9827999" cy="28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1180"/>
                <a:gridCol w="1772262"/>
                <a:gridCol w="1933377"/>
                <a:gridCol w="1127803"/>
                <a:gridCol w="1933377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검출 헤드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백본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시간 모델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twinkling-rocket-21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segmentation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efficientnet-b3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자동 라벨 생성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chromatic-laughter-5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regression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efficientnet-b3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시간 모델 베이스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brilliant-horse-15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segmentation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resnet18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비교용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logical-tree-1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regression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resnet18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경량 비교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fortuitous-goat-12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classification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efficientnet-b3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B262C"/>
                          </a:solidFill>
                          <a:latin typeface="맑은 고딕"/>
                        </a:rPr>
                        <a:t>헤드 비교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32000" y="4140000"/>
            <a:ext cx="9828000" cy="1795808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302000"/>
            <a:ext cx="9324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활용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680000"/>
            <a:ext cx="9324000" cy="1111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1">
                <a:solidFill>
                  <a:srgbClr val="9CCC65"/>
                </a:solidFill>
                <a:latin typeface="맑은 고딕"/>
              </a:rPr>
              <a:t>헤드와 백본 조합을 화면에서 골라 같은 입력에 바로 적용한다.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10692000" cy="86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0BEC5"/>
                </a:solidFill>
                <a:latin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08000"/>
            <a:ext cx="9252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검수 큐와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16000"/>
            <a:ext cx="9828000" cy="3395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선별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독립 학습된 모델들에게 같은 프레임을 물어 원거리 경로가 갈리는 곳을 찾는다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규모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전체의 12.8퍼센트인 417 프레임, 43개 이벤트에 분포한다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600" b="1">
                <a:solidFill>
                  <a:srgbClr val="1B262C"/>
                </a:solidFill>
                <a:latin typeface="맑은 고딕"/>
              </a:rPr>
              <a:t>• 정리</a:t>
            </a:r>
            <a:r>
              <a:rPr sz="2600" b="0">
                <a:solidFill>
                  <a:srgbClr val="47505C"/>
                </a:solidFill>
                <a:latin typeface="맑은 고딕"/>
              </a:rPr>
              <a:t>  구축 비용 절감과 도메인 대응, 모델 간 비교 가능성을 확보했다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727472"/>
            <a:ext cx="9828000" cy="1293904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889472"/>
            <a:ext cx="9324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이어질 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267472"/>
            <a:ext cx="9324000" cy="609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1">
                <a:solidFill>
                  <a:srgbClr val="9CCC65"/>
                </a:solidFill>
                <a:latin typeface="맑은 고딕"/>
              </a:rPr>
              <a:t>검수 완료 후 분기부 학습셋 재조립과 도메인 적응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309376"/>
            <a:ext cx="982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7505C"/>
                </a:solidFill>
                <a:latin typeface="맑은 고딕"/>
              </a:rPr>
              <a:t>한국철도기술연구원 주요사업 철도 특화 로봇 기반 선로점검 핵심기술 개발(PK26312A1)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