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4577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1A1A1A"/>
                </a:solidFill>
                <a:latin typeface="Noto Sans CJK KR"/>
              </a:rPr>
              <a:t>검수 큐 정리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200400"/>
            <a:ext cx="1054577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E9E2E"/>
                </a:solidFill>
                <a:latin typeface="Noto Sans CJK KR"/>
              </a:rPr>
              <a:t>사람이 봐야 하는 프레임 844 → 417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77639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8A"/>
                </a:solidFill>
                <a:latin typeface="Noto Sans CJK KR"/>
              </a:rPr>
              <a:t>앙상블 검수 큐의 85%가 프레임 난이도가 아니라 약한 모델의 침묵으로</a:t>
            </a:r>
          </a:p>
          <a:p>
            <a:pPr algn="l"/>
            <a:r>
              <a:rPr sz="1600" b="0">
                <a:solidFill>
                  <a:srgbClr val="8A8A8A"/>
                </a:solidFill>
                <a:latin typeface="Noto Sans CJK KR"/>
              </a:rPr>
              <a:t>부풀어 있었다. 근거와 그 결과를 정리한다.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760720"/>
            <a:ext cx="1054577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8A8A"/>
                </a:solidFill>
                <a:latin typeface="Noto Sans CJK KR"/>
              </a:rPr>
              <a:t>TEP-Net · 분기부 자동 라벨 검수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9E2E"/>
                </a:solidFill>
                <a:latin typeface="Noto Sans CJK KR"/>
              </a:rPr>
              <a:t>① 문제</a:t>
            </a:r>
          </a:p>
        </p:txBody>
      </p:sp>
      <p:pic>
        <p:nvPicPr>
          <p:cNvPr id="3" name="Picture 2" descr="fig_review_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058" y="777240"/>
            <a:ext cx="8439578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978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Noto Sans CJK KR"/>
              </a:rPr>
              <a:t>844프레임 중 719장(85%)이 '어떤 모델이 답을 안 냈다'는 이유였다. 정리 후에는 279장이 실제 모델 불일치다.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9E2E"/>
                </a:solidFill>
                <a:latin typeface="Noto Sans CJK KR"/>
              </a:rPr>
              <a:t>② 원인</a:t>
            </a:r>
          </a:p>
        </p:txBody>
      </p:sp>
      <p:pic>
        <p:nvPicPr>
          <p:cNvPr id="3" name="Picture 2" descr="fig_review_mod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8190" y="777240"/>
            <a:ext cx="7295314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978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Noto Sans CJK KR"/>
              </a:rPr>
              <a:t>osdar23-seg-r18은 25%, brilliant-horse-15는 15%의 프레임에서 침묵한다. 나머지 다섯은 4% 이하. 두 모델은 답을 냈을 때의 정확도도 가장 나빴다.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9E2E"/>
                </a:solidFill>
                <a:latin typeface="Noto Sans CJK KR"/>
              </a:rPr>
              <a:t>③ 근거</a:t>
            </a:r>
          </a:p>
        </p:txBody>
      </p:sp>
      <p:pic>
        <p:nvPicPr>
          <p:cNvPr id="3" name="Picture 2" descr="fig_review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44" y="777240"/>
            <a:ext cx="10806806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978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Noto Sans CJK KR"/>
              </a:rPr>
              <a:t>왼쪽: 제외한 두 모델만 0.30 빗나가고 남긴 다섯은 정답과 0.0005 이내. 오른쪽: 남긴 다섯이 갈리는 프레임 — 이런 것이 사람에게 간다.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9E2E"/>
                </a:solidFill>
                <a:latin typeface="Noto Sans CJK KR"/>
              </a:rPr>
              <a:t>④ 선택</a:t>
            </a:r>
          </a:p>
        </p:txBody>
      </p:sp>
      <p:pic>
        <p:nvPicPr>
          <p:cNvPr id="3" name="Picture 2" descr="fig_review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187" y="777240"/>
            <a:ext cx="8275320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978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Noto Sans CJK KR"/>
              </a:rPr>
              <a:t>'7개 중 5개만 있으면 통과'는 큐를 230까지 줄이지만 심각한 오류의 21%를 놓친다. 약한 2개 제외는 416으로 줄이면서 검출률 100%를 지킨다.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9E2E"/>
                </a:solidFill>
                <a:latin typeface="Noto Sans CJK KR"/>
              </a:rPr>
              <a:t>⑤ 내역</a:t>
            </a:r>
          </a:p>
        </p:txBody>
      </p:sp>
      <p:pic>
        <p:nvPicPr>
          <p:cNvPr id="3" name="Picture 2" descr="fig_review_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561" y="777240"/>
            <a:ext cx="8024572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978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Noto Sans CJK KR"/>
              </a:rPr>
              <a:t>−265는 규칙 개선분, −208은 이벤트 9건이 '제외 검토' 대상으로 이관된 몫, +45는 되살아난 이벤트, +1은 자동 라벨이 없던 프레임.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E9E2E"/>
                </a:solidFill>
                <a:latin typeface="Noto Sans CJK KR"/>
              </a:rPr>
              <a:t>⑥ 이벤트 단위 판단</a:t>
            </a:r>
          </a:p>
        </p:txBody>
      </p:sp>
      <p:pic>
        <p:nvPicPr>
          <p:cNvPr id="3" name="Picture 2" descr="fig_review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588" y="777240"/>
            <a:ext cx="8392518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8978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8A8A8A"/>
                </a:solidFill>
                <a:latin typeface="Noto Sans CJK KR"/>
              </a:rPr>
              <a:t>이벤트 내내 모델이 갈리는 9건은 프레임 검수로 감당할 대상이 아니라서 학습 목록(55 → 46)에서 제외했다.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1054577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A1A1A"/>
                </a:solidFill>
                <a:latin typeface="Noto Sans CJK KR"/>
              </a:rPr>
              <a:t>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5727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8A8A"/>
                </a:solidFill>
                <a:latin typeface="Noto Sans CJK KR"/>
              </a:rPr>
              <a:t>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0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8A8A"/>
                </a:solidFill>
                <a:latin typeface="Noto Sans CJK KR"/>
              </a:rPr>
              <a:t>이전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0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8A8A"/>
                </a:solidFill>
                <a:latin typeface="Noto Sans CJK KR"/>
              </a:rPr>
              <a:t>이후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157276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A8A8A"/>
                </a:solidFill>
                <a:latin typeface="Noto Sans CJK KR"/>
              </a:rPr>
              <a:t>변화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Noto Sans CJK KR"/>
              </a:rPr>
              <a:t>사람이 볼 프레임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8A"/>
                </a:solidFill>
                <a:latin typeface="Noto Sans CJK KR"/>
              </a:rPr>
              <a:t>844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KR"/>
              </a:rPr>
              <a:t>417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1965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2E"/>
                </a:solidFill>
                <a:latin typeface="Noto Sans CJK KR"/>
              </a:rPr>
              <a:t>−51%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24328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Noto Sans CJK KR"/>
              </a:rPr>
              <a:t>실제 불일치가 이유인 비율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6243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8A"/>
                </a:solidFill>
                <a:latin typeface="Noto Sans CJK KR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624328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KR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2624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2E"/>
                </a:solidFill>
                <a:latin typeface="Noto Sans CJK KR"/>
              </a:rPr>
              <a:t>+52%p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282696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Noto Sans CJK KR"/>
              </a:rPr>
              <a:t>심각한 오류(폭 0.10 초과) 검출률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2826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8A"/>
                </a:solidFill>
                <a:latin typeface="Noto Sans CJK KR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282696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KR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32826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2E"/>
                </a:solidFill>
                <a:latin typeface="Noto Sans CJK KR"/>
              </a:rPr>
              <a:t>유지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941064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Noto Sans CJK KR"/>
              </a:rPr>
              <a:t>학습 이벤트 목록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394106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8A"/>
                </a:solidFill>
                <a:latin typeface="Noto Sans CJK KR"/>
              </a:rPr>
              <a:t>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941064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KR"/>
              </a:rPr>
              <a:t>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60" y="394106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2E"/>
                </a:solidFill>
                <a:latin typeface="Noto Sans CJK KR"/>
              </a:rPr>
              <a:t>불신 9건 제외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599432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Noto Sans CJK KR"/>
              </a:rPr>
              <a:t>자동 라벨 없이 방치되던 프레임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5994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A8A"/>
                </a:solidFill>
                <a:latin typeface="Noto Sans CJK KR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5994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Noto Sans CJK KR"/>
              </a:rPr>
              <a:t>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4599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9E2E"/>
                </a:solidFill>
                <a:latin typeface="Noto Sans CJK KR"/>
              </a:rPr>
              <a:t>해결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394960"/>
            <a:ext cx="1045433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8A8A"/>
                </a:solidFill>
                <a:latin typeface="Noto Sans CJK KR"/>
              </a:rPr>
              <a:t>측정 근거 — 침묵률: 캐시 3981프레임 · 정확도: 손라벨 2268프레임(28 이벤트) · 검출률: 손라벨이 있는 분기 이벤트 6건(486프레임).</a:t>
            </a:r>
          </a:p>
          <a:p>
            <a:pPr algn="l"/>
            <a:r>
              <a:rPr sz="1200" b="0">
                <a:solidFill>
                  <a:srgbClr val="8A8A8A"/>
                </a:solidFill>
                <a:latin typeface="Noto Sans CJK KR"/>
              </a:rPr>
              <a:t>검출률 차이는 대상 오류가 14~40건이라 한두 건 차이는 잡음 범위로 본다.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