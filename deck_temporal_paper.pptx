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889504" cy="4916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47472"/>
            <a:ext cx="2743200" cy="345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331720"/>
            <a:ext cx="11338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1B262C"/>
                </a:solidFill>
                <a:latin typeface="맑은 고딕"/>
              </a:rPr>
              <a:t>철도 자기 경로 검출의 학습형 시간 정련은
이동평균 기준선을 능가하는가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611880"/>
            <a:ext cx="137160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822191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7505C"/>
                </a:solidFill>
                <a:latin typeface="맑은 고딕"/>
              </a:rPr>
              <a:t>Does Learned Temporal Refinement Outperform a Moving-Average Baseline in Railway Ego-Path Detection?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90288"/>
            <a:ext cx="11338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838F"/>
                </a:solidFill>
                <a:latin typeface="맑은 고딕"/>
              </a:rPr>
              <a:t>분기부 평가 데이터셋 구축과 통제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440680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262C"/>
                </a:solidFill>
                <a:latin typeface="맑은 고딕"/>
              </a:rPr>
              <a:t>김백현</a:t>
            </a:r>
            <a:r>
              <a:rPr sz="1400" b="0">
                <a:solidFill>
                  <a:srgbClr val="47505C"/>
                </a:solidFill>
                <a:latin typeface="맑은 고딕"/>
              </a:rPr>
              <a:t>  ·  </a:t>
            </a:r>
            <a:r>
              <a:rPr sz="1400" b="1">
                <a:solidFill>
                  <a:srgbClr val="1B262C"/>
                </a:solidFill>
                <a:latin typeface="맑은 고딕"/>
              </a:rPr>
              <a:t>황현철</a:t>
            </a:r>
            <a:r>
              <a:rPr sz="1400" b="0">
                <a:solidFill>
                  <a:srgbClr val="C62828"/>
                </a:solidFill>
                <a:latin typeface="맑은 고딕"/>
              </a:rPr>
              <a:t>†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47505C"/>
                </a:solidFill>
                <a:latin typeface="맑은 고딕"/>
              </a:rPr>
              <a:t>한국철도기술연구원  Korea Railroad Research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연구 배경 — 자기 경로 검출이 가장 어려운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806440" cy="2331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분기부의 구조적 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477256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갈라지는 유일한 지점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진로 판단이 가장 중요한 곳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통과 직후 근거가 사라짐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진로를 결정하는 텅레일이 화면 아래로 이탈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현재 프레임만으로는 불능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어느 갈래를 택했는지 확정할 수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371600"/>
            <a:ext cx="5806440" cy="2331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선행 연구가 남긴 숙제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01952"/>
            <a:ext cx="5477256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Laurent[1]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이 구간을 “불확실 기간”으로 규정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제안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순환 신경망(RNN) 결합으로 보완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미해결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“포괄적 시계열 데이터셋이 없어” 검증 못 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39"/>
            <a:ext cx="11643055" cy="21488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160519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검증에 필요한 두 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599431"/>
            <a:ext cx="11130991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9CCC65"/>
                </a:solidFill>
                <a:latin typeface="맑은 고딕"/>
              </a:rPr>
              <a:t>① 시계열 평가 데이터 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— 분기기 통과 전후를 담은 시퀀스가 있어야 한다.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1">
                <a:solidFill>
                  <a:srgbClr val="4FC3F7"/>
                </a:solidFill>
                <a:latin typeface="맑은 고딕"/>
              </a:rPr>
              <a:t>② 적절한 비교 기준 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— 흔히 간과되는 쪽이다. 학습형 시간 모듈은 통상 단일 프레임 모델과만 비교되고, 학습이 필요 없는 시간 필터와는 비교되지 않는다.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1">
                <a:solidFill>
                  <a:srgbClr val="9CCC65"/>
                </a:solidFill>
                <a:latin typeface="맑은 고딕"/>
              </a:rPr>
              <a:t>시간적 안정성은 이동평균만으로도 얻을 수 있다. 학습형 모듈이 그 기준선을 넘지 못한다면 추가 파라미터와 학습 비용은 정당화되지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연구 질문과 기여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43055" cy="96012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연구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93392"/>
            <a:ext cx="11130991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9CCC65"/>
                </a:solidFill>
                <a:latin typeface="맑은 고딕"/>
              </a:rPr>
              <a:t>학습형 시간 정련은 학습이 필요 없는 이동평균 기준선을 능가하는가?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580644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67919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맑은 고딕"/>
              </a:rPr>
              <a:t>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090672"/>
            <a:ext cx="547725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분기부 평가 데이터셋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276 이벤트 · 47개 원본 영상 · 18개 지역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텅레일 식별 가능성의 정량 기준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실효 해상도로 데이터 품질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2560320"/>
            <a:ext cx="580644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67919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090672"/>
            <a:ext cx="547725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시퀀스 간격 정합의 효과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안정성 2.6배, 그러나 정확도는 불변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인도메인 지표의 한계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이 차이는 학습 도메인 지표로 드러나지 않음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26280"/>
            <a:ext cx="11643055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4645152"/>
            <a:ext cx="113138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핵심 비교와 부정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056632"/>
            <a:ext cx="1131387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학습형 정련 대 이동평균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거의 같은 정확도 비용에서 EMA가 약 6배의 안정성 개선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다중 가설 정식화의 사전 검증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가설이 0.4 px로 붕괴 — 상한조차 단일 경로를 넘지 못함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방법론적 제안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학습형 시간 모듈은 이동평균 기준선과 비교되어야 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관련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80644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자기 경로 검출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47725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Laurent[1]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종단간 딥러닝으로 정식화, 백본×헤드 조합 비교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회귀 방식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앵커별 x좌표와 경로 상한을 직접 예측 — 디코더 없이 낮은 지연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헤지 특성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모호할 때 두 궤도의 중간을 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371600"/>
            <a:ext cx="580644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맑은 고딕"/>
              </a:rPr>
              <a:t>시간적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01952"/>
            <a:ext cx="547725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특징맵 수준 융합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영상 근거를 함께 사용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출력 수준 정련 ← 본 연구 대상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프레임별 네트워크 동결, GRU가 최근 출력 벡터를 읽어 잔차 예측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영행렬 초기화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학습 전에는 프레임별 예측과 동일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86200"/>
            <a:ext cx="580644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0050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비학습 대안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416552"/>
            <a:ext cx="547725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인과적 이동평균 · 지수이동평균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추가 학습 없이 프레임 간 흔들림 감소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대가는 지연(lag)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대상이 실제로 변하는 순간 반응이 늦음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본 논문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이 고전적 대안을 학습형 정련부와 동일 지표로 비교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3886200"/>
            <a:ext cx="580644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40050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62C"/>
                </a:solidFill>
                <a:latin typeface="맑은 고딕"/>
              </a:rPr>
              <a:t>철도 인지 데이터셋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4416552"/>
            <a:ext cx="547725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RailSem19[2]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주행 시점 정지 영상 약 8,500장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OSDaR23[3]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다중 센서 연속 주행 시퀀스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공백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두 데이터셋 모두 분기부 통과 전후를 집중적으로 담고 있지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분기부 평가 데이터셋 — 수집과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806440" cy="24688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이벤트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477256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기관사 시점(cab view) 영상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분기기 통과 장면을 이벤트 단위로 절단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20초 창 · 4 fps · 81 프레임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프레임 간격 0.25초, 폭 1280 px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분기(facing, split)만 유지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합류(trailing)·고정 카메라·모형철도 제외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371600"/>
            <a:ext cx="5806440" cy="24688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맑은 고딕"/>
              </a:rPr>
              <a:t>규모와 분포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01952"/>
            <a:ext cx="5477256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276 이벤트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47개 원본 영상 · 18개 지역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지역 분포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영국 77 · 일본 34 · 슬로베니아 25 · 독일 22 · 한국 19 · 스위스 17 등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평가 표본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층화 표본 30 이벤트 / 2,422 프레임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11643055" cy="20116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233672"/>
            <a:ext cx="113138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라벨과 해석상의 주의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645152"/>
            <a:ext cx="11313871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라벨 생성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SAM 2[4] 비디오 마스크 전파 + 학습된 세그멘테이션 모델 병용, 육안 검수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계열 분리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라벨 생성 모델은 세그멘테이션 계열 — 비교 대상인 회귀 계열 어느 쪽에도 유리하지 않음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절대 IoU의 의미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자동 라벨과의 일치도로 해석하며, 본 논문의 결론은 모델 간 상대 비교에 근거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텅레일 식별 가능성 기준 — 명목이 아니라 실효 해상도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416052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3831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383133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모두 같은 1280×720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해상도 표기로는 판별 불가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업스케일 영상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화소 수는 같지만 분기기 세부가 없음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판별 대상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텅레일 밀착 여부</a:t>
            </a:r>
          </a:p>
        </p:txBody>
      </p:sp>
      <p:pic>
        <p:nvPicPr>
          <p:cNvPr id="11" name="Picture 10" descr="fig_re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81328"/>
            <a:ext cx="7479792" cy="20035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60" y="3576283"/>
            <a:ext cx="7479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그림 1. 좌: 재추출 전(≤720p 원본에서 절단) · 우: 동일 구간을 1080p에서 재추출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86200"/>
            <a:ext cx="580644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400507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정량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4370832"/>
            <a:ext cx="547725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4498848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62C"/>
                </a:solidFill>
                <a:latin typeface="맑은 고딕"/>
              </a:rPr>
              <a:t>hi = mean | I − up(down(I, 2), 2) 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983480"/>
            <a:ext cx="54772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62C"/>
                </a:solidFill>
                <a:latin typeface="맑은 고딕"/>
              </a:rPr>
              <a:t>• 대상 영역</a:t>
            </a:r>
            <a:r>
              <a:rPr sz="1200" b="0">
                <a:solidFill>
                  <a:srgbClr val="47505C"/>
                </a:solidFill>
                <a:latin typeface="맑은 고딕"/>
              </a:rPr>
              <a:t>  중앙–하단(세로 50–95%, 가로 22–78%)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1">
                <a:solidFill>
                  <a:srgbClr val="1B262C"/>
                </a:solidFill>
                <a:latin typeface="맑은 고딕"/>
              </a:rPr>
              <a:t>• 의미</a:t>
            </a:r>
            <a:r>
              <a:rPr sz="1200" b="0">
                <a:solidFill>
                  <a:srgbClr val="47505C"/>
                </a:solidFill>
                <a:latin typeface="맑은 고딕"/>
              </a:rPr>
              <a:t>  화소율 절반을 넘는 고주파 성분의 양 — 업스케일본은 0에 가까움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3886200"/>
            <a:ext cx="5806440" cy="224028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4069080"/>
            <a:ext cx="5294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육안 검증으로 확정한 임계값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4507992"/>
            <a:ext cx="5294376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맑은 고딕"/>
              </a:rPr>
              <a:t>hi = 2.63</a:t>
            </a:r>
            <a:r>
              <a:rPr sz="1400" b="0">
                <a:solidFill>
                  <a:srgbClr val="FFFFFF"/>
                </a:solidFill>
                <a:latin typeface="맑은 고딕"/>
              </a:rPr>
              <a:t>  침목이 뭉개져 텅레일 판별 불가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9CCC65"/>
                </a:solidFill>
                <a:latin typeface="맑은 고딕"/>
              </a:rPr>
              <a:t>hi = 3.00</a:t>
            </a:r>
            <a:r>
              <a:rPr sz="1400" b="0">
                <a:solidFill>
                  <a:srgbClr val="FFFFFF"/>
                </a:solidFill>
                <a:latin typeface="맑은 고딕"/>
              </a:rPr>
              <a:t>  레일 윤곽과 침목이 분리되어 판별 가능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9CCC65"/>
                </a:solidFill>
                <a:latin typeface="맑은 고딕"/>
              </a:rPr>
              <a:t>따라서 채택 기준은 hi ≥ 3.0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데이터 품질 관리 — 새 영상 대신 같은 구간의 재추출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5577839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554479"/>
              </a:tblGrid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이벤트 수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초기 수집분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318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실효 해상도 기준 미달 99개(31%) 제외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219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동일 구간 고해상도 재추출로 복구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275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육안 확인한 신규 수집분 반영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276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3749039"/>
            <a:ext cx="5577840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3867911"/>
            <a:ext cx="52486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근본 원인은 수집 설정이었다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4279391"/>
            <a:ext cx="5248656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원본 32편 중 29편이 1080p 이상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4K 10편 — 그런데 720p 이하로 내려받았다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따라서 새 영상을 찾지 않았다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동일 구간을 고해상도로 다시 잘라 56개 복구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큐레이션 보존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원본 시각·창 정보를 그대로 써서 분기/합류 분류가 유지됨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6016752" cy="475488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554480"/>
            <a:ext cx="55046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93392"/>
            <a:ext cx="5504688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9CCC65"/>
                </a:solidFill>
                <a:latin typeface="맑은 고딕"/>
              </a:rPr>
              <a:t>최종 데이터셋 전체가 기준을 통과한다.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</a:rPr>
              <a:t>재추출본의 실효 해상도 중앙값은 </a:t>
            </a:r>
            <a:r>
              <a:rPr sz="1400" b="1">
                <a:solidFill>
                  <a:srgbClr val="4FC3F7"/>
                </a:solidFill>
                <a:latin typeface="맑은 고딕"/>
              </a:rPr>
              <a:t>4.89</a:t>
            </a:r>
            <a:r>
              <a:rPr sz="1400" b="0">
                <a:solidFill>
                  <a:srgbClr val="FFFFFF"/>
                </a:solidFill>
                <a:latin typeface="맑은 고딕"/>
              </a:rPr>
              <a:t>로, 삭제 대상이었던 값(2점대)의 약 두 배다.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B0BEC5"/>
                </a:solidFill>
                <a:latin typeface="맑은 고딕"/>
              </a:rPr>
              <a:t>명목 해상도만 확인했다면 99개의 판별 불가 이벤트가 평가셋에 남고, 그중 상당수는 재추출로 되살릴 수 있다는 사실도 발견되지 않았을 것이다.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평가 프로토콜 — 구간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5806439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8338"/>
                <a:gridCol w="1244237"/>
                <a:gridCol w="3483864"/>
              </a:tblGrid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구간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접근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−6 ~ 0 s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분기부가 전방에 보이는 구간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직후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 ~ 2.5 s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통과 직후, 경로가 실제로 변하는 구간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불확실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2.5 ~ 6 s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분기부가 시야를 벗어난 뒤, 진로 확인 전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후기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6 ~ 10 s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진로가 확정된 이후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3657600"/>
            <a:ext cx="5806440" cy="24688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3776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왜 초 단위로 규정하는가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4187952"/>
            <a:ext cx="5477256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구간 경계는 표본화율로 환산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각 이벤트의 4 fps로 프레임 인덱스에 대응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혼동의 대가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프레임 단위와 초 단위를 혼동하면 구간 폭이 4배로 어긋난다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따라서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본 프로토콜은 모든 경계를 초로 규정한다</a:t>
            </a:r>
          </a:p>
        </p:txBody>
      </p:sp>
      <p:pic>
        <p:nvPicPr>
          <p:cNvPr id="12" name="Picture 11" descr="fig_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280" y="1463040"/>
            <a:ext cx="5817472" cy="18745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3428999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그림 2. 이벤트 구조와 평가 구간 정의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657600"/>
            <a:ext cx="5833872" cy="246888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840480"/>
            <a:ext cx="53218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왜 불확실 구간이 관심 대상인가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279392"/>
            <a:ext cx="5321808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9CCC65"/>
                </a:solidFill>
                <a:latin typeface="맑은 고딕"/>
              </a:rPr>
              <a:t>네 구간 중 시간 정보가 이득을 줄 수 있는 곳은 여기뿐이다.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  <a:latin typeface="맑은 고딕"/>
              </a:rPr>
              <a:t>접근 구간에는 분기부가 화면에 있어 현재 프레임만으로 판단이 되고, 후기 구간에는 궤도 정렬로 진로가 이미 확인된다.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  <a:latin typeface="맑은 고딕"/>
              </a:rPr>
              <a:t>불확실 구간은 근거가 화면에서 사라진 뒤 아직 확인되기 전 — 과거 프레임 말고는 참고할 것이 없는 유일한 구간이다.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평가 프로토콜 —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80644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IoU — 정확도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47725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정의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예측한 좌·우 레일이 이루는 영역과 라벨 영역의 교집합/합집합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한계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라벨이 필요하며, 자동 라벨 비중이 높아 절대값은 일치도로 읽어야 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371600"/>
            <a:ext cx="5806440" cy="22402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맑은 고딕"/>
              </a:rPr>
              <a:t>프레임 간 지터 — 안정성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01952"/>
            <a:ext cx="547725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정의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연속 두 프레임의 예측 경로를 공통 높이 구간에서 비교한 평균 |Δx| (px)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장점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정답 라벨이 필요 없다 — 값이 클수록 예측이 불안정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근거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Laurent[1]가 불확실성 지표로 제안한 “예측의 주저(hesitancy)”의 정량화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86200"/>
            <a:ext cx="11643055" cy="224028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069080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두 지표를 함께 보아야 하는 이유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507992"/>
            <a:ext cx="1113099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9CCC65"/>
                </a:solidFill>
                <a:latin typeface="맑은 고딕"/>
              </a:rPr>
              <a:t>평활은 공짜가 아니다.</a:t>
            </a:r>
            <a:r>
              <a:rPr sz="1400" b="0">
                <a:solidFill>
                  <a:srgbClr val="FFFFFF"/>
                </a:solidFill>
                <a:latin typeface="맑은 고딕"/>
              </a:rPr>
              <a:t> 지터는 얼마든지 줄일 수 있지만 그 대가로 지연이 생겨 정확도를 잃는다.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</a:rPr>
              <a:t>따라서 본 논문은 안정성 개선율과 IoU 손실을 함께 제시하고, 정확도 1단위를 지불하고 얻는 안정성 개선율을 </a:t>
            </a:r>
            <a:r>
              <a:rPr sz="1400" b="1">
                <a:solidFill>
                  <a:srgbClr val="4FC3F7"/>
                </a:solidFill>
                <a:latin typeface="맑은 고딕"/>
              </a:rPr>
              <a:t>효율</a:t>
            </a:r>
            <a:r>
              <a:rPr sz="1400" b="0">
                <a:solidFill>
                  <a:srgbClr val="FFFFFF"/>
                </a:solidFill>
                <a:latin typeface="맑은 고딕"/>
              </a:rPr>
              <a:t>로 정의해 방법 간 비교의 축으로 삼는다.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비교 대상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43055" cy="9144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113138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62C"/>
                </a:solidFill>
                <a:latin typeface="맑은 고딕"/>
              </a:rPr>
              <a:t>기준 모델 (base)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113138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EfficientNet-B3 백본의 회귀형 단일 프레임 검출기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5806440" cy="29718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633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학습형 시간 정련 — GRU 0.46 M (base 대비 +3.2%)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044952"/>
            <a:ext cx="5477256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구조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base 동결, 최근 5개 출력 벡터(각 129차원)를 GRU(은닉 256, 1층)가 읽어 잔차 예측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rnn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단일 이미지에서 크롭 창을 보간한 합성 유사 시퀀스 — 선행 구현의 기본값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rnn-1fps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OSDaR23(10 fps)에서 stride 10으로 표본화한 실제 시퀀스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rnn-4fps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동일 영상 stride 3(3.33 fps) — 평가 영상의 4 fps에 근접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rnn-occ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분기부 가림을 모사하는 증강으로 학습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통제쌍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1fps와 4fps는 표본화 간격만 다르고 나머지 설정 동일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2514600"/>
            <a:ext cx="5806440" cy="29718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633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맑은 고딕"/>
              </a:rPr>
              <a:t>학습 불필요 시간 필터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044952"/>
            <a:ext cx="5477256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적용 대상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base의 원시 예측 벡터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좌표계 정렬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크롭 창이 프레임마다 이동하므로 과거 예측을 현재 좌표계로 재투영 후 결합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boxcar-K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최근 K개 예측의 단순 평균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EMA-α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out[t] = α·x[t] + (1−α)·out[t−1],  out[0] = x[0]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파라미터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없음 — 후처리 한 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669280"/>
            <a:ext cx="11643055" cy="777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870448"/>
            <a:ext cx="1113099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맑은 고딕"/>
              </a:rPr>
              <a:t>두 계열은 같은 정보(과거 예측)만 본다. </a:t>
            </a:r>
            <a:r>
              <a:rPr sz="1350" b="1">
                <a:solidFill>
                  <a:srgbClr val="9CCC65"/>
                </a:solidFill>
                <a:latin typeface="맑은 고딕"/>
              </a:rPr>
              <a:t>차이는 그 정보를 학습으로 쓰느냐, 고정된 규칙으로 쓰느냐뿐이다.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결과 ① 구간별 프레임 간 지터 (px, 괄호는 base 대비 개선율)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11643052" cy="2921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9542"/>
                <a:gridCol w="2191633"/>
                <a:gridCol w="2191633"/>
                <a:gridCol w="2328611"/>
                <a:gridCol w="2191633"/>
              </a:tblGrid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접근 −6~0 s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직후 0~2.5 s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불확실 2.5~6 s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후기 6~10 s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2.96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2.45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3.22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3.18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2.96 (−0.2%)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2.46 (−0.3%)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3.07 (+4.5%)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3.14 (+1.3%)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rnn-occ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4.15 (−40.6%)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2.82 (−15.1%)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3.78 (−17.6%)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4.08 (−28.3%)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rnn-1fps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3.11 (−5.3%)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2.30 (+5.8%)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3.03 (+5.7%)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3.12 (+1.8%)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rnn-4fps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3.13 (−5.8%)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2.41 (+1.6%)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2.74 (+14.9%)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3.10 (+2.4%)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base+boxcar3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2.54 (+14.2%)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1.92 (+21.5%)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2.46 (+23.6%)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2.56 (+19.4%)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base+EMA0.5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2.45 (+17.3%)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1.93 (+21.2%)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2.44 (+24.0%)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2.37 (+25.4%)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base+boxcar5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2.41 (+18.6%)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1.73 (+29.4%)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2.16 (+32.8%)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2.17 (+31.7%)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4617720"/>
            <a:ext cx="11643055" cy="150876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4800600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읽는 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239512"/>
            <a:ext cx="11130991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맑은 고딕"/>
              </a:rPr>
              <a:t>학습형 정련 중 최고는 rnn-4fps로 불확실 구간 </a:t>
            </a:r>
            <a:r>
              <a:rPr sz="1350" b="1">
                <a:solidFill>
                  <a:srgbClr val="4FC3F7"/>
                </a:solidFill>
                <a:latin typeface="맑은 고딕"/>
              </a:rPr>
              <a:t>+14.9%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. 그러나 같은 구간에서 EMA0.5는 </a:t>
            </a:r>
            <a:r>
              <a:rPr sz="1350" b="1">
                <a:solidFill>
                  <a:srgbClr val="9CCC65"/>
                </a:solidFill>
                <a:latin typeface="맑은 고딕"/>
              </a:rPr>
              <a:t>+24.0%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, 필터 계열은 전 구간에서 고르게 앞선다.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0">
                <a:solidFill>
                  <a:srgbClr val="B0BEC5"/>
                </a:solidFill>
                <a:latin typeface="맑은 고딕"/>
              </a:rPr>
              <a:t>rnn-occ는 모든 구간에서 base보다 나쁘다 — 6.4절에서 원인을 다룬다.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결과 ② 구간별 IoU (라벨 대비)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11643052" cy="2971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9542"/>
                <a:gridCol w="2191633"/>
                <a:gridCol w="2191633"/>
                <a:gridCol w="2328611"/>
                <a:gridCol w="2191633"/>
              </a:tblGrid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접근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직후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불확실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후기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base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0.9562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0.9598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0.9445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0.9481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0.9538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0.9577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0.9465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0.9471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rnn-occ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0.9462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0.9542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0.9399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0.9399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rnn-1fps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0.9378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0.9470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0.9361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0.9346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rnn-4fps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0.9371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0.9472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0.9325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0.9358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base+boxcar3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0.9356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0.9372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0.9322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0.9314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base+EMA0.5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0.9365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0.9349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0.9354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base+boxcar5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0.9108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0.9150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0.9095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0.9071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29718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(프레임 수 n)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720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420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480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4754880"/>
            <a:ext cx="11643055" cy="13716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4937760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전체를 관통하는 관찰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376672"/>
            <a:ext cx="1113099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9CCC65"/>
                </a:solidFill>
                <a:latin typeface="맑은 고딕"/>
              </a:rPr>
              <a:t>시간 정보의 이득은 정확도가 아니라 안정성으로만 나타난다.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</a:rPr>
              <a:t>어떤 시간 모델도 base의 IoU를 상회하지 못한다 — 불확실 구간의 rnn이 유일한 예외이며 그 폭도 +0.0020에 그친다.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결과 ③ 시퀀스 간격 정합의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806440" cy="1051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62C"/>
                </a:solidFill>
                <a:latin typeface="맑은 고딕"/>
              </a:rPr>
              <a:t>통제쌍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477256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rnn-1fps 대 rnn-4fps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표본화 간격만 다르고 나머지 설정은 동일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2697480"/>
          <a:ext cx="5806439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4971"/>
                <a:gridCol w="1474651"/>
                <a:gridCol w="1566817"/>
              </a:tblGrid>
              <a:tr h="3840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rnn-1fps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rnn-4fps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불확실 구간 안정성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+5.7%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+14.9%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IoU 손실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−0.0132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−0.0140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학습 도메인 Test IoU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0.98459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0.98480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최저 검증 손실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0.02073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0.02070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382512" y="1371600"/>
            <a:ext cx="5806440" cy="233172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8544" y="1554480"/>
            <a:ext cx="5294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간격을 맞추면 안정성만 오른다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1993392"/>
            <a:ext cx="529437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맑은 고딕"/>
              </a:rPr>
              <a:t>불확실 구간 개선이 </a:t>
            </a:r>
            <a:r>
              <a:rPr sz="1350" b="1">
                <a:solidFill>
                  <a:srgbClr val="9CCC65"/>
                </a:solidFill>
                <a:latin typeface="맑은 고딕"/>
              </a:rPr>
              <a:t>+5.7% → +14.9%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로 2.6배 증가한다. 시간 정보가 실제로 필요한 구간에 효과가 집중된다.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  <a:latin typeface="맑은 고딕"/>
              </a:rPr>
              <a:t>반면 정확도는 개선되지 않는다(−0.0132 대 −0.0140으로 사실상 동일). 간격 정합은 정련부가 과거 궤적을 더 잘 활용하게 하지만, 그 활용이 정확도로 환산되지는 않는다.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3931920"/>
            <a:ext cx="5806440" cy="219456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4114800"/>
            <a:ext cx="5294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인도메인 지표로는 보이지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4553712"/>
            <a:ext cx="529437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4FC3F7"/>
                </a:solidFill>
                <a:latin typeface="맑은 고딕"/>
              </a:rPr>
              <a:t>두 모델의 학습 도메인 지표는 구분되지 않는다.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  <a:latin typeface="맑은 고딕"/>
              </a:rPr>
              <a:t>시간 모델의 거동은 시퀀스의 시간 구조에 의존하므로, 프레임 간격이 다른 도메인에 적용할 때 인도메인 지표만으로 판단해서는 안 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결과 ④ 핵심 — 학습형 정련 대 이동평균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5989318" cy="2921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0724"/>
                <a:gridCol w="921433"/>
                <a:gridCol w="1105720"/>
                <a:gridCol w="1197864"/>
                <a:gridCol w="1013577"/>
              </a:tblGrid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지터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안정성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IoU 손실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효율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2.95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2.91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+1.4%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−0.0008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(미미)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rnn-occ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3.71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−25.7%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−0.0071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음(악화)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rnn-1fps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2.89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+1.9%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−0.0132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144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rnn-4fps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2.84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+3.6%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−0.0140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259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base+boxcar3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2.37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+19.7%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−0.0180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1,094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base+EMA0.5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2.30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+22.1%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−0.0154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1B262C"/>
                          </a:solidFill>
                          <a:latin typeface="맑은 고딕"/>
                        </a:rPr>
                        <a:t>1,434</a:t>
                      </a:r>
                    </a:p>
                  </a:txBody>
                  <a:tcPr marL="54864" marR="54864" marT="0" marB="0" anchor="ctr">
                    <a:solidFill>
                      <a:srgbClr val="E3EEE4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base+boxcar5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2.12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+28.2%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−0.0415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680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qualit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89888"/>
            <a:ext cx="5486400" cy="23263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7960" y="3807661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그림 3. (a) 불확실 구간의 한 프레임 (b) 프레임 간 흔들림의 시간 변화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846320"/>
            <a:ext cx="11643055" cy="128016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029200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0.46 M 파라미터는 정당화되지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468112"/>
            <a:ext cx="1113099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맑은 고딕"/>
              </a:rPr>
              <a:t>거의 같은 정확도 비용(−0.0140 대 −0.0154)에서 EMA는 안정성을 </a:t>
            </a:r>
            <a:r>
              <a:rPr sz="1350" b="1">
                <a:solidFill>
                  <a:srgbClr val="9CCC65"/>
                </a:solidFill>
                <a:latin typeface="맑은 고딕"/>
              </a:rPr>
              <a:t>약 6배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개선한다(+3.6% 대 +22.1%). 효율로는 259 대 1,434로 </a:t>
            </a:r>
            <a:r>
              <a:rPr sz="1350" b="1">
                <a:solidFill>
                  <a:srgbClr val="4FC3F7"/>
                </a:solidFill>
                <a:latin typeface="맑은 고딕"/>
              </a:rPr>
              <a:t>5.5배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. 합성 시퀀스로 학습한 rnn은 항등 함수에 가깝게 수렴해 비용도 이득도 거의 없다.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부정 결과 — 가림 증강과 다중 가설 정식화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806440" cy="25146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맑은 고딕"/>
              </a:rPr>
              <a:t>가림 증강의 재검토 (rnn-occ)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477256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모든 구간에서 최하위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지터 −25.7%, IoU −0.0071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원인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증강이 모사하는 실패 모드와 실제 실패 모드의 불일치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하단 차폐가 가르치는 것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“경로가 가려졌다” — 그러나 실제 분기부에서 레일은 계속 보인다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실제 불확실성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두 갈래 중 어느 쪽인지 모르는 이산적 모호성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방증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정련부가 base에서 크게 이탈할수록 IoU 단조 감소 (rnn 2.36 px, rnn-occ 5.87 px)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389888"/>
            <a:ext cx="5806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다중 가설 정식화의 사전 검증 (K=2)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82512" y="1783080"/>
          <a:ext cx="580643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7981"/>
                <a:gridCol w="1179433"/>
                <a:gridCol w="1088707"/>
                <a:gridCol w="1360884"/>
                <a:gridCol w="1179433"/>
              </a:tblGrid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구간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단일 경로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oracle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oracle − 단일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가설 간 거리</a:t>
                      </a:r>
                    </a:p>
                  </a:txBody>
                  <a:tcPr marL="54864" marR="54864" marT="0" marB="0" anchor="ctr">
                    <a:solidFill>
                      <a:srgbClr val="1B262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접근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0.9562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0.9551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−0.0011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0.47 px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직후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0.9598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0.9601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+0.0003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0.43 px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불확실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0.9445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0.9365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−0.0080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0.41 px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후기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0.9481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0.9463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−0.0018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1B262C"/>
                          </a:solidFill>
                          <a:latin typeface="맑은 고딕"/>
                        </a:rPr>
                        <a:t>0.42 px</a:t>
                      </a:r>
                    </a:p>
                  </a:txBody>
                  <a:tcPr marL="54864" marR="54864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4206240"/>
            <a:ext cx="11643055" cy="1920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4389120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왜 가설이 붕괴하는가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828032"/>
            <a:ext cx="1113099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9CCC65"/>
                </a:solidFill>
                <a:latin typeface="맑은 고딕"/>
              </a:rPr>
              <a:t>oracle이 단일 경로를 넘는 구간이 없고(최대 +0.0003), 두 가설의 거리는 0.41–0.47 px로 사실상 같은 경로다.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  <a:latin typeface="맑은 고딕"/>
              </a:rPr>
              <a:t>승자독식 학습이 가설을 특화시키려면 이미지 조건부 분포가 다봉이어야 하는데, 텅레일 방향은 이미지에 관측되므로 대부분의 학습 이미지에서 정답 갈래가 결정된다. 진정으로 모호한 프레임은 분기부가 시야를 벗어난 이후뿐이며 — 그 데이터는 본 논문의 평가셋과 같은 성격이라, 학습에 쓰면 평가셋이 소진된다.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2505456" cy="42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6888"/>
            <a:ext cx="2377440" cy="299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1168"/>
            <a:ext cx="3154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0BEC5"/>
                </a:solidFill>
                <a:latin typeface="맑은 고딕"/>
              </a:rPr>
              <a:t>KRRI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7505C"/>
                </a:solidFill>
                <a:latin typeface="맑은 고딕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43055" cy="1874519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111309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핵심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93392"/>
            <a:ext cx="11130991" cy="1088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9CCC65"/>
                </a:solidFill>
                <a:latin typeface="맑은 고딕"/>
              </a:rPr>
              <a:t>시간 정보의 이득은 정확도가 아니라 안정성으로만 나타났다.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4FC3F7"/>
                </a:solidFill>
                <a:latin typeface="맑은 고딕"/>
              </a:rPr>
              <a:t>학습형 정련부는 단순 지수이동평균에 크게 못 미친다 — 거의 동일한 정확도 비용에서 EMA가 약 6배의 안정성 개선, 효율로는 5.5배 차이.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</a:rPr>
              <a:t>따라서 0.46 M 파라미터와 별도 학습을 요구하는 출력 수준 시간 정련은 후처리 필터 대비 정당화되지 않는다.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5806440" cy="2560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68503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맑은 고딕"/>
              </a:rPr>
              <a:t>기여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096512"/>
            <a:ext cx="5477256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평가 기반 마련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분기부 276 이벤트 데이터셋 + 실효 해상도 품질 기준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실증적 답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Laurent[1]가 제안만 하고 검증하지 못한 시간 확장에 대한 답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방법론적 제안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학습형 시간 모듈은 이동평균 기준선과 비교되어야 한다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부정 결과 보고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가림 증강의 역효과, 다중 가설 정식화의 붕괴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3566160"/>
            <a:ext cx="5806440" cy="2560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3685032"/>
            <a:ext cx="5477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38F"/>
                </a:solidFill>
                <a:latin typeface="맑은 고딕"/>
              </a:rPr>
              <a:t>향후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4096512"/>
            <a:ext cx="5477256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특징맵 수준 시간 융합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예측 벡터만이 아니라 영상 근거를 함께 활용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적응적 필터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예측 불확실성에 따라 평활 강도를 조절 — 흔들릴 때만 강하게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50" b="1">
                <a:solidFill>
                  <a:srgbClr val="1B262C"/>
                </a:solidFill>
                <a:latin typeface="맑은 고딕"/>
              </a:rPr>
              <a:t>• 도메인 적응 ← 우선순위 높음</a:t>
            </a:r>
            <a:r>
              <a:rPr sz="1250" b="0">
                <a:solidFill>
                  <a:srgbClr val="47505C"/>
                </a:solidFill>
                <a:latin typeface="맑은 고딕"/>
              </a:rPr>
              <a:t>  시간축 개선 폭은 IoU ±0.005인 반면 학습 도메인(0.98)과 평가 도메인(0.95)의 격차는 그보다 훨씬 크다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