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통합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234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과제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라벨링 비용과 노선이 바뀌면 무너지는 정확도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접근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초안 생성과 검수, 학습을 한 브라우저에서 잇는다</a:t>
            </a:r>
          </a:p>
        </p:txBody>
      </p:sp>
      <p:pic>
        <p:nvPicPr>
          <p:cNvPr id="7" name="Picture 6" descr="screen_lau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744864"/>
            <a:ext cx="6696000" cy="418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8037864"/>
            <a:ext cx="6696000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7505C"/>
                </a:solidFill>
                <a:latin typeface="맑은 고딕"/>
              </a:rPr>
              <a:t>화면 1. 원본 저장소 뷰어. TEP-Net 구조와 README를 앱 안에서 확인한다.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8779203"/>
            <a:ext cx="6696000" cy="1906416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8959202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핵심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9355203"/>
            <a:ext cx="6192000" cy="1186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1">
                <a:solidFill>
                  <a:srgbClr val="9CCC65"/>
                </a:solidFill>
                <a:latin typeface="맑은 고딕"/>
              </a:rPr>
              <a:t>도구를 오가며 생기는 형식 변환을 없앤다.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세 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3511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1계층 라벨링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초안 생성과 점 단위 보정, 검수 큐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2계층 학습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베이스 위에 RNN을 전이학습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3계층 추론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단일 프레임과 시간 모델을 나란히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915296"/>
            <a:ext cx="6696000" cy="347004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5095295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491296"/>
            <a:ext cx="6192000" cy="27500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0">
                <a:solidFill>
                  <a:srgbClr val="FFFFFF"/>
                </a:solidFill>
                <a:latin typeface="맑은 고딕"/>
              </a:rPr>
              <a:t>등록된 검출 모델 8종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700" b="0">
                <a:solidFill>
                  <a:srgbClr val="FFFFFF"/>
                </a:solidFill>
                <a:latin typeface="맑은 고딕"/>
              </a:rPr>
              <a:t>NVIDIA A100 80GB 가속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700" b="1">
                <a:solidFill>
                  <a:srgbClr val="4FC3F7"/>
                </a:solidFill>
                <a:latin typeface="맑은 고딕"/>
              </a:rPr>
              <a:t>서버 데이터셋 폴더 18개를 앱에서 직접 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라벨링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전파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첫 프레임에 프롬프트를 찍으면 폴더 전체로 퍼진다</a:t>
            </a:r>
          </a:p>
        </p:txBody>
      </p:sp>
      <p:pic>
        <p:nvPicPr>
          <p:cNvPr id="7" name="Picture 6" descr="fig1_labeling_sa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574432"/>
            <a:ext cx="6696000" cy="45760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7258506"/>
            <a:ext cx="6696000" cy="842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7505C"/>
                </a:solidFill>
                <a:latin typeface="맑은 고딕"/>
              </a:rPr>
              <a:t>화면 2. 좌우 레일을 점 단위로 보정한다. 곡선 보간과 굵기를 조절하고 확정 라벨을 다음 프레임 초안으로 전파한다.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자동 라벨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3511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모델 자동 라벨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도메인이 맞을 때 가장 깨끗한 초안을 낸다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SAM 2 전파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레일을 학습한 적이 없어도 지정 궤도를 추적한다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곡선 보간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점 세 개에서 레일 한 줄을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915296"/>
            <a:ext cx="6696000" cy="2427624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5095295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선택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491296"/>
            <a:ext cx="6192000" cy="1707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1">
                <a:solidFill>
                  <a:srgbClr val="9CCC65"/>
                </a:solidFill>
                <a:latin typeface="맑은 고딕"/>
              </a:rPr>
              <a:t>도메인이 맞으면 모델, 바뀌면 SAM 2 전파를 쓴다.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700" b="0">
                <a:solidFill>
                  <a:srgbClr val="FFFFFF"/>
                </a:solidFill>
                <a:latin typeface="맑은 고딕"/>
              </a:rPr>
              <a:t>어긋난 프레임만 사람이 손본다.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도메인 이동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실증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일반 철도로 학습한 모델은 노면 전차에서 궤도를 놓친다</a:t>
            </a:r>
          </a:p>
        </p:txBody>
      </p:sp>
      <p:pic>
        <p:nvPicPr>
          <p:cNvPr id="7" name="Picture 6" descr="fig3_model_fail_t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574432"/>
            <a:ext cx="6696000" cy="1242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3924988"/>
            <a:ext cx="6696000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7505C"/>
                </a:solidFill>
                <a:latin typeface="맑은 고딕"/>
              </a:rPr>
              <a:t>화면 3. 학습 모델의 초안이 자기 궤도를 벗어나 인접 궤도와 주변 차량으로 이탈한다.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4666327"/>
            <a:ext cx="6696000" cy="2427624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4846326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대안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5242327"/>
            <a:ext cx="6192000" cy="1707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1">
                <a:solidFill>
                  <a:srgbClr val="9CCC65"/>
                </a:solidFill>
                <a:latin typeface="맑은 고딕"/>
              </a:rPr>
              <a:t>SAM 2 전파는 첫 프레임 지정만으로 290 프레임을 추적했다.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학습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234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전이학습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베이스 모델을 골라 그 위에 RNN을 얹는다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설정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에폭과 배치, 학습률, 학습 GPU를 화면에서 지정한다</a:t>
            </a:r>
          </a:p>
        </p:txBody>
      </p:sp>
      <p:pic>
        <p:nvPicPr>
          <p:cNvPr id="7" name="Picture 6" descr="screen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744864"/>
            <a:ext cx="6696000" cy="418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8037864"/>
            <a:ext cx="6696000" cy="842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7505C"/>
                </a:solidFill>
                <a:latin typeface="맑은 고딕"/>
              </a:rPr>
              <a:t>화면 4. 베이스 동결과 미세조정, GPU 전처리, 다중 GPU를 선택한다. 학습 곡선과 출력 모델명이 같은 화면에 남는다.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추론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3분할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원본과 단일 프레임, 시간 모델을 한 화면에 낸다</a:t>
            </a:r>
          </a:p>
        </p:txBody>
      </p:sp>
      <p:pic>
        <p:nvPicPr>
          <p:cNvPr id="7" name="Picture 6" descr="fig2_inference_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501" y="2574432"/>
            <a:ext cx="4628998" cy="424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6930432"/>
            <a:ext cx="6696000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7505C"/>
                </a:solidFill>
                <a:latin typeface="맑은 고딕"/>
              </a:rPr>
              <a:t>화면 5. 같은 입력에 두 모델을 동시에 적용하고 프레임당 지연과 초당 처리량을 함께 표시한다.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7671771"/>
            <a:ext cx="6696000" cy="2427624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7851770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측정된 지연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8247771"/>
            <a:ext cx="6192000" cy="1707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1">
                <a:solidFill>
                  <a:srgbClr val="4FC3F7"/>
                </a:solidFill>
                <a:latin typeface="맑은 고딕"/>
              </a:rPr>
              <a:t>30장 처리 5.8초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700" b="0">
                <a:solidFill>
                  <a:srgbClr val="FFFFFF"/>
                </a:solidFill>
                <a:latin typeface="맑은 고딕"/>
              </a:rPr>
              <a:t>단일 프레임 32.8 ms, 시간 모델 33.2 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운영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파일 이동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로컬과 서버를 좌우 패널로 두고 복사한다</a:t>
            </a:r>
          </a:p>
        </p:txBody>
      </p:sp>
      <p:pic>
        <p:nvPicPr>
          <p:cNvPr id="7" name="Picture 6" descr="screen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574432"/>
            <a:ext cx="6696000" cy="418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6867432"/>
            <a:ext cx="6696000" cy="842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7505C"/>
                </a:solidFill>
                <a:latin typeface="맑은 고딕"/>
              </a:rPr>
              <a:t>화면 6. 업로드와 다운로드, 압축 해제를 앱 안에서 처리한다. 서버 데이터셋 폴더 18개가 이미지 수와 함께 보인다.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분기기 갤러리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열람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국가와 노선, 영상 ID로 추려 대표 프레임을 확인한다</a:t>
            </a:r>
          </a:p>
        </p:txBody>
      </p:sp>
      <p:pic>
        <p:nvPicPr>
          <p:cNvPr id="7" name="Picture 6" descr="screen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574432"/>
            <a:ext cx="6696000" cy="418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6867432"/>
            <a:ext cx="6696000" cy="842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7505C"/>
                </a:solidFill>
                <a:latin typeface="맑은 고딕"/>
              </a:rPr>
              <a:t>화면 7. 분기기 통과 이벤트 273건. 영국 76, 일본 34, 슬로베니아 25, 독일 22 등 18개 지역에서 수집했다.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보유 데이터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188000"/>
          <a:ext cx="6696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000"/>
                <a:gridCol w="1488000"/>
                <a:gridCol w="2790000"/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분기기 이벤트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273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이벤트당 81 프레임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OSDaR23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1,535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시간 모델 학습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크롤링 분기기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613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재추출로 화질 보강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노면 전차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290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B262C"/>
                          </a:solidFill>
                          <a:latin typeface="맑은 고딕"/>
                        </a:rPr>
                        <a:t>도메인 이동 평가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32000" y="3744000"/>
            <a:ext cx="6696000" cy="29488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3923999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검수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4320000"/>
            <a:ext cx="6192000" cy="22288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1">
                <a:solidFill>
                  <a:srgbClr val="4FC3F7"/>
                </a:solidFill>
                <a:latin typeface="맑은 고딕"/>
              </a:rPr>
              <a:t>검수 큐 417 프레임 중 9 완료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700" b="0">
                <a:solidFill>
                  <a:srgbClr val="FFFFFF"/>
                </a:solidFill>
                <a:latin typeface="맑은 고딕"/>
              </a:rPr>
              <a:t>RailSem19 rs19_val 원본 보유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등록 모델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188000"/>
          <a:ext cx="6695999" cy="28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2342"/>
                <a:gridCol w="1339200"/>
                <a:gridCol w="2104457"/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맑은 고딕"/>
                        </a:rPr>
                        <a:t>헤드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맑은 고딕"/>
                        </a:rPr>
                        <a:t>백본</a:t>
                      </a:r>
                    </a:p>
                  </a:txBody>
                  <a:tcPr marL="108000" marR="108000" marT="0" marB="0" anchor="ctr">
                    <a:solidFill>
                      <a:srgbClr val="1B262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twinkling-rocket-21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seg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effnet-b3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chromatic-laughter-5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reg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effnet-b3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brilliant-horse-15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seg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resnet18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logical-tree-1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reg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resnet18</a:t>
                      </a:r>
                    </a:p>
                  </a:txBody>
                  <a:tcPr marL="108000" marR="108000" marT="0" marB="0" anchor="ctr">
                    <a:solidFill>
                      <a:srgbClr val="F2F5F7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fortuitous-goat-12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cls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B262C"/>
                          </a:solidFill>
                          <a:latin typeface="맑은 고딕"/>
                        </a:rPr>
                        <a:t>effnet-b3</a:t>
                      </a:r>
                    </a:p>
                  </a:txBody>
                  <a:tcPr marL="108000" marR="1080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32000" y="4212000"/>
            <a:ext cx="6696000" cy="2948832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4391999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활용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4788000"/>
            <a:ext cx="6192000" cy="22288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1">
                <a:solidFill>
                  <a:srgbClr val="9CCC65"/>
                </a:solidFill>
                <a:latin typeface="맑은 고딕"/>
              </a:rPr>
              <a:t>헤드와 백본 조합을 골라 같은 입력에 바로 적용한다.</a:t>
            </a:r>
          </a:p>
          <a:p>
            <a:pPr algn="l">
              <a:lnSpc>
                <a:spcPct val="136000"/>
              </a:lnSpc>
              <a:spcBef>
                <a:spcPts val="800"/>
              </a:spcBef>
            </a:pPr>
            <a:r>
              <a:rPr sz="2700" b="0">
                <a:solidFill>
                  <a:srgbClr val="FFFFFF"/>
                </a:solidFill>
                <a:latin typeface="맑은 고딕"/>
              </a:rPr>
              <a:t>세그멘테이션은 자동 라벨용, 회귀는 시간 모델 베이스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2400"/>
            <a:ext cx="7560000" cy="93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79999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B0BEC5"/>
                </a:solidFill>
                <a:latin typeface="맑은 고딕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44000"/>
            <a:ext cx="5976001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검수 큐와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6696000" cy="3511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선별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모델들이 갈리는 프레임만 큐에 올린다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규모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전체의 12.8퍼센트인 417 프레임, 43개 이벤트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B262C"/>
                </a:solidFill>
                <a:latin typeface="맑은 고딕"/>
              </a:rPr>
              <a:t>• 정리</a:t>
            </a:r>
            <a:r>
              <a:rPr sz="2700" b="0">
                <a:solidFill>
                  <a:srgbClr val="47505C"/>
                </a:solidFill>
                <a:latin typeface="맑은 고딕"/>
              </a:rPr>
              <a:t>  구축 비용과 도메인 대응, 비교 가능성을 확보했다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915296"/>
            <a:ext cx="6696000" cy="1906416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5095295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이어질 작업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5491296"/>
            <a:ext cx="6192000" cy="1186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700" b="1">
                <a:solidFill>
                  <a:srgbClr val="9CCC65"/>
                </a:solidFill>
                <a:latin typeface="맑은 고딕"/>
              </a:rPr>
              <a:t>검수 완료 후 분기부 학습셋 재조립과 도메인 적응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7037712"/>
            <a:ext cx="6696000" cy="202224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000" y="7217711"/>
            <a:ext cx="619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사사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7613712"/>
            <a:ext cx="6192000" cy="1302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000" b="0">
                <a:solidFill>
                  <a:srgbClr val="B0BEC5"/>
                </a:solidFill>
                <a:latin typeface="맑은 고딕"/>
              </a:rPr>
              <a:t>한국철도기술연구원 주요사업 철도 특화 로봇 기반 선로점검 핵심기술 개발(PK26312A1)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